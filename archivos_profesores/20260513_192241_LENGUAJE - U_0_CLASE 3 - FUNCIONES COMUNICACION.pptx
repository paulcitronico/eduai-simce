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3" r:id="rId12"/>
    <p:sldId id="267" r:id="rId13"/>
    <p:sldId id="269" r:id="rId14"/>
    <p:sldId id="270" r:id="rId15"/>
    <p:sldId id="271" r:id="rId16"/>
    <p:sldId id="272" r:id="rId17"/>
    <p:sldId id="27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66"/>
    <a:srgbClr val="C6FEF5"/>
    <a:srgbClr val="66FF33"/>
    <a:srgbClr val="00FF99"/>
    <a:srgbClr val="66FFFF"/>
    <a:srgbClr val="66FFCC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69E130-7A3F-4FD4-A643-B0903E56F7EE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A7BA00-9C43-41CF-B790-6B728E6239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17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s-CL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9593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543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1BEF0D-F0BB-DE4B-95CE-6DB70DBA9567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0495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546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058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947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63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87029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B61BEF0D-F0BB-DE4B-95CE-6DB70DBA9567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15363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173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687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ítulo y texto e imágenes prediseñad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25600" y="419100"/>
            <a:ext cx="10363200" cy="1143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1625600" y="2044700"/>
            <a:ext cx="5080000" cy="41148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imágenes prediseñadas"/>
          <p:cNvSpPr>
            <a:spLocks noGrp="1"/>
          </p:cNvSpPr>
          <p:nvPr>
            <p:ph type="clipArt" sz="half" idx="2"/>
          </p:nvPr>
        </p:nvSpPr>
        <p:spPr>
          <a:xfrm>
            <a:off x="6908800" y="2044700"/>
            <a:ext cx="5080000" cy="4114800"/>
          </a:xfrm>
        </p:spPr>
        <p:txBody>
          <a:bodyPr/>
          <a:lstStyle/>
          <a:p>
            <a:pPr lvl="0"/>
            <a:endParaRPr lang="es-CL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7F645F-2E1B-F219-5BAB-DF77662FB3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8F1455-B7F1-0EA0-1C76-57FEDDC319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323A91-198E-A0D6-5153-BC46069B15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686886-5C90-41DA-AC0F-8A898DB40AE9}" type="slidenum">
              <a:rPr lang="en-US" altLang="es-CL"/>
              <a:pPr>
                <a:defRPr/>
              </a:pPr>
              <a:t>‹Nº›</a:t>
            </a:fld>
            <a:endParaRPr lang="en-US" altLang="es-CL" dirty="0"/>
          </a:p>
        </p:txBody>
      </p:sp>
    </p:spTree>
    <p:extLst>
      <p:ext uri="{BB962C8B-B14F-4D97-AF65-F5344CB8AC3E}">
        <p14:creationId xmlns:p14="http://schemas.microsoft.com/office/powerpoint/2010/main" val="9810250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ítulo, imágenes prediseñada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25600" y="419100"/>
            <a:ext cx="10363200" cy="1143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imágenes prediseñadas"/>
          <p:cNvSpPr>
            <a:spLocks noGrp="1"/>
          </p:cNvSpPr>
          <p:nvPr>
            <p:ph type="clipArt" sz="half" idx="1"/>
          </p:nvPr>
        </p:nvSpPr>
        <p:spPr>
          <a:xfrm>
            <a:off x="1625600" y="2044700"/>
            <a:ext cx="5080000" cy="4114800"/>
          </a:xfrm>
        </p:spPr>
        <p:txBody>
          <a:bodyPr/>
          <a:lstStyle/>
          <a:p>
            <a:pPr lvl="0"/>
            <a:endParaRPr lang="es-CL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908800" y="2044700"/>
            <a:ext cx="5080000" cy="41148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7F5C58-EFAE-E3D4-B17F-A6B20474CD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F142D3-4638-3225-04B9-702010B7CD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0440ED-52BB-F0CB-4979-CE240E7D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298F6C-467A-4EE7-B881-C48A0287BCCB}" type="slidenum">
              <a:rPr lang="en-US" altLang="es-CL"/>
              <a:pPr>
                <a:defRPr/>
              </a:pPr>
              <a:t>‹Nº›</a:t>
            </a:fld>
            <a:endParaRPr lang="en-US" altLang="es-CL"/>
          </a:p>
        </p:txBody>
      </p:sp>
    </p:spTree>
    <p:extLst>
      <p:ext uri="{BB962C8B-B14F-4D97-AF65-F5344CB8AC3E}">
        <p14:creationId xmlns:p14="http://schemas.microsoft.com/office/powerpoint/2010/main" val="3973716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s-C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521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youtube.com/watch?v=kga1lDKjYU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17914" y="2358811"/>
            <a:ext cx="7984067" cy="2066540"/>
          </a:xfrm>
        </p:spPr>
        <p:txBody>
          <a:bodyPr/>
          <a:lstStyle/>
          <a:p>
            <a:r>
              <a:rPr lang="es-CL" sz="5000" dirty="0"/>
              <a:t>LA COMUNICACIÓN: FUNCIONES COMUNICATIVAS</a:t>
            </a:r>
            <a:endParaRPr lang="en-US" sz="50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688165" y="4744527"/>
            <a:ext cx="6815669" cy="863599"/>
          </a:xfrm>
        </p:spPr>
        <p:txBody>
          <a:bodyPr>
            <a:normAutofit/>
          </a:bodyPr>
          <a:lstStyle/>
          <a:p>
            <a:r>
              <a:rPr lang="es-CL" dirty="0"/>
              <a:t>Lenguaje y Comunicación – Primer y Segundo Nivel</a:t>
            </a:r>
          </a:p>
          <a:p>
            <a:r>
              <a:rPr lang="es-CL" dirty="0"/>
              <a:t>Profesora: Elizabeth Muñoz Cañulef</a:t>
            </a:r>
            <a:endParaRPr lang="en-US" dirty="0"/>
          </a:p>
        </p:txBody>
      </p:sp>
      <p:pic>
        <p:nvPicPr>
          <p:cNvPr id="4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28920" y="250166"/>
            <a:ext cx="1534160" cy="153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433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Objetivos de aprendizaje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1545854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r>
              <a:rPr lang="es-MX" sz="3000" dirty="0"/>
              <a:t>Reconocer que la comunicación tiene diversos propósitos que se manifiestan en cada mensaje.</a:t>
            </a:r>
          </a:p>
          <a:p>
            <a:r>
              <a:rPr lang="es-MX" sz="3000" dirty="0"/>
              <a:t>Identificar la intencionalidad de los menajes a través de las funciones del lenguaje en distintos mensajes.</a:t>
            </a:r>
          </a:p>
          <a:p>
            <a:endParaRPr lang="en-US" dirty="0"/>
          </a:p>
        </p:txBody>
      </p:sp>
      <p:sp>
        <p:nvSpPr>
          <p:cNvPr id="4" name="Text Box 45">
            <a:extLst>
              <a:ext uri="{FF2B5EF4-FFF2-40B4-BE49-F238E27FC236}">
                <a16:creationId xmlns:a16="http://schemas.microsoft.com/office/drawing/2014/main" id="{DE5E7A5B-E335-E1B5-1BA0-DD5AFB710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4641850"/>
            <a:ext cx="2035175" cy="1016000"/>
          </a:xfrm>
          <a:prstGeom prst="rect">
            <a:avLst/>
          </a:prstGeom>
          <a:solidFill>
            <a:srgbClr val="E35757">
              <a:alpha val="8509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es-ES" altLang="es-CL" sz="2000" b="1">
                <a:latin typeface="Arial" panose="020B0604020202020204" pitchFamily="34" charset="0"/>
                <a:ea typeface="MS PGothic" panose="020B0600070205080204" pitchFamily="34" charset="-128"/>
              </a:rPr>
              <a:t>No olvide silenciar su celular</a:t>
            </a:r>
          </a:p>
        </p:txBody>
      </p:sp>
      <p:pic>
        <p:nvPicPr>
          <p:cNvPr id="5" name="Imagen 1">
            <a:extLst>
              <a:ext uri="{FF2B5EF4-FFF2-40B4-BE49-F238E27FC236}">
                <a16:creationId xmlns:a16="http://schemas.microsoft.com/office/drawing/2014/main" id="{086C7752-3502-BBDA-12B5-D39DC3ABD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81" t="6799" r="17065" b="6798"/>
          <a:stretch>
            <a:fillRect/>
          </a:stretch>
        </p:blipFill>
        <p:spPr bwMode="auto">
          <a:xfrm>
            <a:off x="5802313" y="4516438"/>
            <a:ext cx="1508125" cy="165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4832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3072" y="642499"/>
            <a:ext cx="2595756" cy="637662"/>
          </a:xfrm>
        </p:spPr>
        <p:txBody>
          <a:bodyPr>
            <a:normAutofit fontScale="90000"/>
          </a:bodyPr>
          <a:lstStyle/>
          <a:p>
            <a:r>
              <a:rPr lang="es-CL" dirty="0"/>
              <a:t>LEAMOS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198827" y="6083904"/>
            <a:ext cx="5398225" cy="525902"/>
          </a:xfrm>
          <a:solidFill>
            <a:srgbClr val="66FFFF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CL" b="1" dirty="0"/>
              <a:t>¿Qué les parece lo que dice este fragmento?</a:t>
            </a:r>
            <a:endParaRPr lang="en-US" b="1" dirty="0"/>
          </a:p>
        </p:txBody>
      </p:sp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B7F02902-A7B0-C586-CBA3-E69D6D7A17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359402"/>
            <a:ext cx="7707085" cy="458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197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31271" y="467059"/>
            <a:ext cx="10379013" cy="846668"/>
          </a:xfrm>
        </p:spPr>
        <p:txBody>
          <a:bodyPr>
            <a:noAutofit/>
          </a:bodyPr>
          <a:lstStyle/>
          <a:p>
            <a:pPr algn="ctr"/>
            <a:r>
              <a:rPr lang="es-CL" sz="4000" dirty="0"/>
              <a:t>Funciones del Lenguaje</a:t>
            </a:r>
            <a:endParaRPr lang="en-U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2387" y="1501696"/>
            <a:ext cx="10795379" cy="123032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s-CL" sz="2000" dirty="0"/>
              <a:t>La función principal del lenguaje humano es comunicar, pero funciona de distintas maneras según el tipo de mensaje que queramos transmitir. </a:t>
            </a:r>
          </a:p>
          <a:p>
            <a:r>
              <a:rPr lang="es-CL" sz="2000" dirty="0"/>
              <a:t>En este sentido, se reconocen seis usos o funciones en el lenguaje. </a:t>
            </a:r>
            <a:endParaRPr lang="en-US" sz="2000" dirty="0"/>
          </a:p>
        </p:txBody>
      </p:sp>
      <p:sp>
        <p:nvSpPr>
          <p:cNvPr id="4" name="Rectángulo 3"/>
          <p:cNvSpPr/>
          <p:nvPr/>
        </p:nvSpPr>
        <p:spPr>
          <a:xfrm>
            <a:off x="5006377" y="3026391"/>
            <a:ext cx="1828800" cy="805218"/>
          </a:xfrm>
          <a:prstGeom prst="rect">
            <a:avLst/>
          </a:prstGeom>
          <a:solidFill>
            <a:srgbClr val="FF99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>
                <a:solidFill>
                  <a:schemeClr val="tx1"/>
                </a:solidFill>
              </a:rPr>
              <a:t>EMOTIVA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1012206" y="3026391"/>
            <a:ext cx="2115403" cy="805218"/>
          </a:xfrm>
          <a:prstGeom prst="rect">
            <a:avLst/>
          </a:prstGeom>
          <a:solidFill>
            <a:srgbClr val="66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>
                <a:solidFill>
                  <a:schemeClr val="tx1"/>
                </a:solidFill>
              </a:rPr>
              <a:t>APELATIVA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843889" y="4476024"/>
            <a:ext cx="2645393" cy="12303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>
                <a:solidFill>
                  <a:schemeClr val="tx1"/>
                </a:solidFill>
              </a:rPr>
              <a:t>DISCURSIVA O REFERENCIAL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4924490" y="4688576"/>
            <a:ext cx="1992574" cy="805218"/>
          </a:xfrm>
          <a:prstGeom prst="rect">
            <a:avLst/>
          </a:prstGeom>
          <a:solidFill>
            <a:srgbClr val="66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>
                <a:solidFill>
                  <a:schemeClr val="tx1"/>
                </a:solidFill>
              </a:rPr>
              <a:t>FÁTICA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8010204" y="4688576"/>
            <a:ext cx="3398292" cy="805218"/>
          </a:xfrm>
          <a:prstGeom prst="rect">
            <a:avLst/>
          </a:prstGeom>
          <a:solidFill>
            <a:srgbClr val="00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>
                <a:solidFill>
                  <a:schemeClr val="tx1"/>
                </a:solidFill>
              </a:rPr>
              <a:t>METALINGÜÍSTICA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8652678" y="3026391"/>
            <a:ext cx="1992574" cy="805218"/>
          </a:xfrm>
          <a:prstGeom prst="rect">
            <a:avLst/>
          </a:prstGeom>
          <a:solidFill>
            <a:srgbClr val="FFFF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>
                <a:solidFill>
                  <a:schemeClr val="tx1"/>
                </a:solidFill>
              </a:rPr>
              <a:t>POÉTICA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692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4C3C961-F29B-FCF4-CC52-4C8F54B6C2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4313" y="366869"/>
            <a:ext cx="8382721" cy="682387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es-ES_tradnl" sz="3500" b="1" dirty="0">
                <a:solidFill>
                  <a:schemeClr val="tx1"/>
                </a:solidFill>
                <a:latin typeface="Arial" charset="0"/>
              </a:rPr>
              <a:t>1. Función Emotiva o expresiva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7DF8F69C-9D46-A693-6DC6-62F1C5D11B2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03476" y="1563192"/>
            <a:ext cx="7776290" cy="156966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es-ES_tradnl" sz="2400" b="1" dirty="0">
                <a:solidFill>
                  <a:schemeClr val="accent1">
                    <a:lumMod val="50000"/>
                  </a:schemeClr>
                </a:solidFill>
                <a:latin typeface="Arial" charset="0"/>
              </a:rPr>
              <a:t>Es la manifestación de emociones, sentimientos, sensaciones, etc. del </a:t>
            </a:r>
            <a:r>
              <a:rPr lang="es-ES_tradnl" sz="2400" b="1" u="sng" dirty="0">
                <a:solidFill>
                  <a:schemeClr val="accent1">
                    <a:lumMod val="50000"/>
                  </a:schemeClr>
                </a:solidFill>
                <a:latin typeface="Arial" charset="0"/>
              </a:rPr>
              <a:t>emisor</a:t>
            </a:r>
            <a:r>
              <a:rPr lang="es-ES_tradnl" sz="2400" b="1" dirty="0">
                <a:solidFill>
                  <a:schemeClr val="accent1">
                    <a:lumMod val="50000"/>
                  </a:schemeClr>
                </a:solidFill>
                <a:latin typeface="Arial" charset="0"/>
              </a:rPr>
              <a:t>. </a:t>
            </a:r>
          </a:p>
          <a:p>
            <a:pPr>
              <a:defRPr/>
            </a:pPr>
            <a:r>
              <a:rPr lang="es-ES_tradnl" sz="2400" b="1" dirty="0">
                <a:solidFill>
                  <a:schemeClr val="accent1">
                    <a:lumMod val="50000"/>
                  </a:schemeClr>
                </a:solidFill>
                <a:latin typeface="Arial" charset="0"/>
              </a:rPr>
              <a:t>Se enuncia en Primera persona (yo, nosotros)</a:t>
            </a:r>
          </a:p>
        </p:txBody>
      </p:sp>
      <p:sp>
        <p:nvSpPr>
          <p:cNvPr id="7173" name="3 Rectángulo">
            <a:extLst>
              <a:ext uri="{FF2B5EF4-FFF2-40B4-BE49-F238E27FC236}">
                <a16:creationId xmlns:a16="http://schemas.microsoft.com/office/drawing/2014/main" id="{2EE90708-3DC7-C919-FB8C-631B98303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0746" y="3956632"/>
            <a:ext cx="5183727" cy="156966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b"/>
              <a:defRPr kumimoji="1" sz="3200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800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s-CL" altLang="es-CL" sz="2400" b="1" dirty="0">
                <a:solidFill>
                  <a:srgbClr val="C00000"/>
                </a:solidFill>
                <a:latin typeface="Calibri" panose="020F0502020204030204" pitchFamily="34" charset="0"/>
              </a:rPr>
              <a:t>Ejemplos: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s-CL" altLang="es-CL" sz="2400" b="1" i="1" dirty="0">
                <a:solidFill>
                  <a:srgbClr val="C00000"/>
                </a:solidFill>
                <a:latin typeface="Calibri" panose="020F0502020204030204" pitchFamily="34" charset="0"/>
              </a:rPr>
              <a:t>¡Estoy feliz de estar contigo!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s-MX" altLang="es-CL" sz="2400" b="1" i="1" dirty="0">
                <a:solidFill>
                  <a:srgbClr val="C00000"/>
                </a:solidFill>
                <a:latin typeface="Calibri" panose="020F0502020204030204" pitchFamily="34" charset="0"/>
              </a:rPr>
              <a:t>Me siento abrumada por tanto trabajo.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s-MX" altLang="es-CL" sz="2400" b="1" i="1" dirty="0">
                <a:solidFill>
                  <a:srgbClr val="C00000"/>
                </a:solidFill>
                <a:latin typeface="Calibri" panose="020F0502020204030204" pitchFamily="34" charset="0"/>
              </a:rPr>
              <a:t>Es un orgullo estar aquí hoy.</a:t>
            </a:r>
            <a:endParaRPr kumimoji="0" lang="es-CL" altLang="es-CL" sz="2400" b="1" i="1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pic>
        <p:nvPicPr>
          <p:cNvPr id="7174" name="Picture 7">
            <a:extLst>
              <a:ext uri="{FF2B5EF4-FFF2-40B4-BE49-F238E27FC236}">
                <a16:creationId xmlns:a16="http://schemas.microsoft.com/office/drawing/2014/main" id="{2B898781-57A1-EAFB-D8D5-F2D302C52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6929" y="1638726"/>
            <a:ext cx="243205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5" name="Picture 8">
            <a:extLst>
              <a:ext uri="{FF2B5EF4-FFF2-40B4-BE49-F238E27FC236}">
                <a16:creationId xmlns:a16="http://schemas.microsoft.com/office/drawing/2014/main" id="{9EDCE0E7-70BF-BFD6-EF53-8D8C956ED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476" y="3725149"/>
            <a:ext cx="3048196" cy="2185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3705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autoUpdateAnimBg="0"/>
      <p:bldP spid="11267" grpId="0" build="p" autoUpdateAnimBg="0"/>
      <p:bldP spid="717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B748556-1390-AD45-BA1D-6CE17BD5CD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0799" y="692541"/>
            <a:ext cx="8539554" cy="764511"/>
          </a:xfrm>
        </p:spPr>
        <p:txBody>
          <a:bodyPr/>
          <a:lstStyle/>
          <a:p>
            <a:pPr>
              <a:defRPr/>
            </a:pPr>
            <a:r>
              <a:rPr lang="es-ES_tradnl" sz="4200" b="1" dirty="0">
                <a:solidFill>
                  <a:schemeClr val="tx1"/>
                </a:solidFill>
                <a:latin typeface="Arial" charset="0"/>
              </a:rPr>
              <a:t>2. Función Apelativa</a:t>
            </a:r>
            <a:endParaRPr lang="es-ES_tradnl" b="1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F9CBF99-163B-8259-A9D5-DD05831A0A3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1487" y="1849813"/>
            <a:ext cx="6052392" cy="201956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algn="just">
              <a:defRPr/>
            </a:pPr>
            <a:r>
              <a:rPr lang="es-ES_tradnl" sz="2400" b="1" dirty="0">
                <a:solidFill>
                  <a:schemeClr val="accent1">
                    <a:lumMod val="75000"/>
                  </a:schemeClr>
                </a:solidFill>
                <a:latin typeface="Arial" charset="0"/>
              </a:rPr>
              <a:t>Se encuentra presente en reglamentos, recetas, órdenes, peticiones, preguntas, textos dramáticos, etc. </a:t>
            </a:r>
          </a:p>
          <a:p>
            <a:pPr algn="just">
              <a:defRPr/>
            </a:pPr>
            <a:r>
              <a:rPr lang="es-ES_tradnl" sz="2400" b="1" dirty="0">
                <a:solidFill>
                  <a:schemeClr val="accent1">
                    <a:lumMod val="75000"/>
                  </a:schemeClr>
                </a:solidFill>
                <a:latin typeface="Arial" charset="0"/>
              </a:rPr>
              <a:t>Se espera una respuesta del receptor.</a:t>
            </a:r>
          </a:p>
        </p:txBody>
      </p:sp>
      <p:pic>
        <p:nvPicPr>
          <p:cNvPr id="8196" name="Picture 7">
            <a:extLst>
              <a:ext uri="{FF2B5EF4-FFF2-40B4-BE49-F238E27FC236}">
                <a16:creationId xmlns:a16="http://schemas.microsoft.com/office/drawing/2014/main" id="{A4A77F49-C3BE-3EA7-71C9-76B0CFDADEB9}"/>
              </a:ext>
            </a:extLst>
          </p:cNvPr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60628" y="1607942"/>
            <a:ext cx="3810000" cy="25431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197" name="3 Rectángulo">
            <a:extLst>
              <a:ext uri="{FF2B5EF4-FFF2-40B4-BE49-F238E27FC236}">
                <a16:creationId xmlns:a16="http://schemas.microsoft.com/office/drawing/2014/main" id="{51864402-87E6-AC70-41AA-C13D267AE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9500" y="4651486"/>
            <a:ext cx="4962256" cy="15696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b"/>
              <a:defRPr kumimoji="1" sz="3200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800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s-MX" altLang="es-CL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s-MX" altLang="es-CL" sz="24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¿Hiciste tu tarea?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s-MX" altLang="es-CL" sz="24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Préstame tu lápiz, por favor.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s-MX" altLang="es-CL" sz="24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 su prueba antes de responder.</a:t>
            </a:r>
            <a:endParaRPr kumimoji="0" lang="es-CL" altLang="es-CL" sz="2400" i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198" name="Picture 7">
            <a:extLst>
              <a:ext uri="{FF2B5EF4-FFF2-40B4-BE49-F238E27FC236}">
                <a16:creationId xmlns:a16="http://schemas.microsoft.com/office/drawing/2014/main" id="{51E94003-E81E-D67A-4F45-333AE4740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99" y="4374278"/>
            <a:ext cx="2162175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71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autoUpdateAnimBg="0"/>
      <p:bldP spid="10243" grpId="0" build="p" autoUpdateAnimBg="0"/>
      <p:bldP spid="819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4F56201-5476-8A10-C74F-8353526AC8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3146" y="636209"/>
            <a:ext cx="6309918" cy="82732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s-ES_tradnl" b="1" dirty="0">
                <a:solidFill>
                  <a:schemeClr val="tx1"/>
                </a:solidFill>
                <a:latin typeface="Arial" charset="0"/>
              </a:rPr>
              <a:t>3. Función Referencial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6146FB4-1FFF-BD5B-91B4-6BA90807787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640347" y="1947504"/>
            <a:ext cx="5248515" cy="1830085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 algn="just">
              <a:buNone/>
              <a:defRPr/>
            </a:pPr>
            <a:r>
              <a:rPr lang="es-ES_tradnl" sz="2400" dirty="0">
                <a:solidFill>
                  <a:schemeClr val="accent1">
                    <a:lumMod val="50000"/>
                  </a:schemeClr>
                </a:solidFill>
                <a:latin typeface="Arial" charset="0"/>
              </a:rPr>
              <a:t>Es cuando se quiere informar, narrar, caracterizar, definir, clasificar, etc. y se encuentra preferentemente en informes, narraciones, descripciones y exposiciones.</a:t>
            </a:r>
          </a:p>
          <a:p>
            <a:pPr>
              <a:defRPr/>
            </a:pPr>
            <a:endParaRPr lang="es-ES_tradnl" sz="2400" dirty="0">
              <a:solidFill>
                <a:schemeClr val="accent1">
                  <a:lumMod val="50000"/>
                </a:schemeClr>
              </a:solidFill>
              <a:latin typeface="Arial" charset="0"/>
            </a:endParaRPr>
          </a:p>
        </p:txBody>
      </p:sp>
      <p:pic>
        <p:nvPicPr>
          <p:cNvPr id="9220" name="Picture 5">
            <a:extLst>
              <a:ext uri="{FF2B5EF4-FFF2-40B4-BE49-F238E27FC236}">
                <a16:creationId xmlns:a16="http://schemas.microsoft.com/office/drawing/2014/main" id="{5B0E8D09-5170-C952-BD54-4D1D4FDAC999}"/>
              </a:ext>
            </a:extLst>
          </p:cNvPr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5382" y="1723217"/>
            <a:ext cx="2871787" cy="32400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221" name="2 Rectángulo">
            <a:extLst>
              <a:ext uri="{FF2B5EF4-FFF2-40B4-BE49-F238E27FC236}">
                <a16:creationId xmlns:a16="http://schemas.microsoft.com/office/drawing/2014/main" id="{18393984-8997-2A4C-6F95-0405B32CA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1441" y="4402762"/>
            <a:ext cx="5183022" cy="156966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b"/>
              <a:defRPr kumimoji="1" sz="3200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800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s-CL" altLang="es-CL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s-CL" altLang="es-CL" sz="24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las cinco tenemos reunión.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s-MX" altLang="es-CL" sz="24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Mañana terminaré el informe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s-MX" altLang="es-CL" sz="24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Éste es el Colegio de Adultos CCAP.</a:t>
            </a:r>
            <a:endParaRPr kumimoji="0" lang="es-CL" altLang="es-CL" sz="2400" i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222" name="Picture 6">
            <a:extLst>
              <a:ext uri="{FF2B5EF4-FFF2-40B4-BE49-F238E27FC236}">
                <a16:creationId xmlns:a16="http://schemas.microsoft.com/office/drawing/2014/main" id="{2E84B628-C02A-7896-21FF-ECD7566601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1599" y="2036102"/>
            <a:ext cx="2233613" cy="174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7206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autoUpdateAnimBg="0"/>
      <p:bldP spid="8195" grpId="0" build="p" autoUpdateAnimBg="0"/>
      <p:bldP spid="92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D61D8CDE-BBE6-1E5A-EA53-EDB743965D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6601" y="623095"/>
            <a:ext cx="5028095" cy="868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s-ES_tradnl" b="1" dirty="0">
                <a:solidFill>
                  <a:schemeClr val="tx1"/>
                </a:solidFill>
                <a:latin typeface="Arial" charset="0"/>
              </a:rPr>
              <a:t>4. Función Fática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6357EEBD-4FDE-807E-795C-734A2D16DC2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4401" y="1934031"/>
            <a:ext cx="5735090" cy="1725557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just">
              <a:buNone/>
              <a:defRPr/>
            </a:pPr>
            <a:r>
              <a:rPr lang="es-ES_tradnl" sz="2400" dirty="0">
                <a:solidFill>
                  <a:schemeClr val="accent1">
                    <a:lumMod val="50000"/>
                  </a:schemeClr>
                </a:solidFill>
                <a:latin typeface="Arial" charset="0"/>
              </a:rPr>
              <a:t>Se usa al</a:t>
            </a:r>
            <a:r>
              <a:rPr lang="es-ES_tradnl" dirty="0">
                <a:solidFill>
                  <a:schemeClr val="accent1">
                    <a:lumMod val="50000"/>
                  </a:schemeClr>
                </a:solidFill>
                <a:latin typeface="Arial" charset="0"/>
              </a:rPr>
              <a:t> </a:t>
            </a:r>
            <a:r>
              <a:rPr lang="es-ES_tradnl" sz="2400" dirty="0">
                <a:solidFill>
                  <a:schemeClr val="accent1">
                    <a:lumMod val="50000"/>
                  </a:schemeClr>
                </a:solidFill>
                <a:latin typeface="Arial" charset="0"/>
              </a:rPr>
              <a:t>iniciar, mantener y finalizar una situación de comunicación y, cada cierto tiempo, verificar el estado del canal de comunicación.  </a:t>
            </a:r>
          </a:p>
        </p:txBody>
      </p:sp>
      <p:sp>
        <p:nvSpPr>
          <p:cNvPr id="3" name="2 Rectángulo">
            <a:extLst>
              <a:ext uri="{FF2B5EF4-FFF2-40B4-BE49-F238E27FC236}">
                <a16:creationId xmlns:a16="http://schemas.microsoft.com/office/drawing/2014/main" id="{4CA6F5C9-4963-4E4A-6186-E42F601B1D2E}"/>
              </a:ext>
            </a:extLst>
          </p:cNvPr>
          <p:cNvSpPr/>
          <p:nvPr/>
        </p:nvSpPr>
        <p:spPr>
          <a:xfrm>
            <a:off x="6749110" y="4266841"/>
            <a:ext cx="3539877" cy="19389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s-CL" sz="2000" b="1" dirty="0">
                <a:solidFill>
                  <a:srgbClr val="C00000"/>
                </a:solidFill>
              </a:rPr>
              <a:t>Ejemplos: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s-CL" sz="2000" b="1" dirty="0">
                <a:solidFill>
                  <a:srgbClr val="C00000"/>
                </a:solidFill>
              </a:rPr>
              <a:t>Aló … ¿Me escuchas?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s-CL" sz="2000" b="1" dirty="0">
                <a:solidFill>
                  <a:srgbClr val="C00000"/>
                </a:solidFill>
              </a:rPr>
              <a:t>Buenos días.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s-CL" sz="2000" b="1" dirty="0">
                <a:solidFill>
                  <a:srgbClr val="C00000"/>
                </a:solidFill>
              </a:rPr>
              <a:t>Hasta luego.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s-CL" sz="2000" b="1" dirty="0">
                <a:solidFill>
                  <a:srgbClr val="C00000"/>
                </a:solidFill>
              </a:rPr>
              <a:t>Entendiste?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s-CL" sz="2000" b="1" dirty="0">
                <a:solidFill>
                  <a:srgbClr val="C00000"/>
                </a:solidFill>
              </a:rPr>
              <a:t>Chao </a:t>
            </a:r>
          </a:p>
        </p:txBody>
      </p:sp>
      <p:pic>
        <p:nvPicPr>
          <p:cNvPr id="18438" name="Picture 6">
            <a:extLst>
              <a:ext uri="{FF2B5EF4-FFF2-40B4-BE49-F238E27FC236}">
                <a16:creationId xmlns:a16="http://schemas.microsoft.com/office/drawing/2014/main" id="{F9548160-FDD8-91EA-322C-EF0E15C9D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883" y="4177993"/>
            <a:ext cx="2016125" cy="179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Imagen 1">
            <a:extLst>
              <a:ext uri="{FF2B5EF4-FFF2-40B4-BE49-F238E27FC236}">
                <a16:creationId xmlns:a16="http://schemas.microsoft.com/office/drawing/2014/main" id="{B17109EC-8EBD-3F3B-33D1-74FDFBB84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11" t="4787" r="8633" b="8595"/>
          <a:stretch>
            <a:fillRect/>
          </a:stretch>
        </p:blipFill>
        <p:spPr bwMode="auto">
          <a:xfrm>
            <a:off x="7421618" y="874396"/>
            <a:ext cx="2592387" cy="298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3649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autoUpdateAnimBg="0"/>
      <p:bldP spid="20483" grpId="0" build="p" autoUpdateAnimBg="0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E25A56DC-3EDB-187F-4194-F3E5EE40E5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2240" y="446514"/>
            <a:ext cx="7210472" cy="76578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s-ES_tradnl" b="1" dirty="0">
                <a:solidFill>
                  <a:schemeClr val="tx1"/>
                </a:solidFill>
                <a:latin typeface="Arial" charset="0"/>
              </a:rPr>
              <a:t>5. Función Metalingüística</a:t>
            </a:r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107B7856-F758-6452-2AFB-A6F7C2BE1953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31149" y="1388464"/>
            <a:ext cx="10873279" cy="1609917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just">
              <a:lnSpc>
                <a:spcPct val="90000"/>
              </a:lnSpc>
              <a:defRPr/>
            </a:pPr>
            <a:r>
              <a:rPr lang="es-ES_tradnl" sz="3000" dirty="0">
                <a:solidFill>
                  <a:schemeClr val="accent1">
                    <a:lumMod val="50000"/>
                  </a:schemeClr>
                </a:solidFill>
                <a:latin typeface="Arial" charset="0"/>
              </a:rPr>
              <a:t>Se centra en el código, porque reflexiona sobre el lenguaje mismo. Por ejemplo, al buscar el significado de una palabra. </a:t>
            </a:r>
          </a:p>
          <a:p>
            <a:pPr algn="just">
              <a:lnSpc>
                <a:spcPct val="90000"/>
              </a:lnSpc>
              <a:defRPr/>
            </a:pPr>
            <a:r>
              <a:rPr lang="es-ES_tradnl" sz="3000" dirty="0">
                <a:solidFill>
                  <a:schemeClr val="accent1">
                    <a:lumMod val="50000"/>
                  </a:schemeClr>
                </a:solidFill>
                <a:latin typeface="Arial" charset="0"/>
              </a:rPr>
              <a:t>Su objetivo es corregir o aclarar aspectos del lenguaje. </a:t>
            </a:r>
          </a:p>
        </p:txBody>
      </p:sp>
      <p:sp>
        <p:nvSpPr>
          <p:cNvPr id="22537" name="AutoShape 9">
            <a:extLst>
              <a:ext uri="{FF2B5EF4-FFF2-40B4-BE49-F238E27FC236}">
                <a16:creationId xmlns:a16="http://schemas.microsoft.com/office/drawing/2014/main" id="{C90317A9-EA69-BA4E-5C0B-125AFEE31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9907" y="3438741"/>
            <a:ext cx="2057400" cy="1123950"/>
          </a:xfrm>
          <a:prstGeom prst="wedgeRectCallout">
            <a:avLst>
              <a:gd name="adj1" fmla="val -43750"/>
              <a:gd name="adj2" fmla="val 7000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b"/>
              <a:defRPr kumimoji="1" sz="3200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800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kumimoji="0" lang="es-ES_tradnl" altLang="es-CL" sz="2400">
              <a:latin typeface="Times New Roman" panose="02020603050405020304" pitchFamily="18" charset="0"/>
            </a:endParaRPr>
          </a:p>
        </p:txBody>
      </p:sp>
      <p:sp>
        <p:nvSpPr>
          <p:cNvPr id="22539" name="Text Box 11">
            <a:extLst>
              <a:ext uri="{FF2B5EF4-FFF2-40B4-BE49-F238E27FC236}">
                <a16:creationId xmlns:a16="http://schemas.microsoft.com/office/drawing/2014/main" id="{6C1010E2-2C29-AE33-40B5-E7C6DB89C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9907" y="3438741"/>
            <a:ext cx="2057400" cy="110799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b"/>
              <a:defRPr kumimoji="1" sz="3200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800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s-ES_tradnl" altLang="es-CL" sz="2200" b="1" i="1" dirty="0">
                <a:latin typeface="Times New Roman" panose="02020603050405020304" pitchFamily="18" charset="0"/>
              </a:rPr>
              <a:t>Manzana es sustantivo común...</a:t>
            </a:r>
            <a:endParaRPr kumimoji="0" lang="es-ES_tradnl" altLang="es-CL" sz="2000" b="1" i="1" dirty="0">
              <a:latin typeface="Times New Roman" panose="02020603050405020304" pitchFamily="18" charset="0"/>
            </a:endParaRPr>
          </a:p>
        </p:txBody>
      </p:sp>
      <p:pic>
        <p:nvPicPr>
          <p:cNvPr id="11270" name="Picture 12">
            <a:extLst>
              <a:ext uri="{FF2B5EF4-FFF2-40B4-BE49-F238E27FC236}">
                <a16:creationId xmlns:a16="http://schemas.microsoft.com/office/drawing/2014/main" id="{C6C339AB-0F92-6E13-B415-12D30B01B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2971" y="3380632"/>
            <a:ext cx="2907595" cy="2446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Rectángulo">
            <a:extLst>
              <a:ext uri="{FF2B5EF4-FFF2-40B4-BE49-F238E27FC236}">
                <a16:creationId xmlns:a16="http://schemas.microsoft.com/office/drawing/2014/main" id="{3D9A6EE1-0E2B-37AC-D105-F6EF1FF0DFB2}"/>
              </a:ext>
            </a:extLst>
          </p:cNvPr>
          <p:cNvSpPr/>
          <p:nvPr/>
        </p:nvSpPr>
        <p:spPr>
          <a:xfrm>
            <a:off x="434561" y="4807816"/>
            <a:ext cx="5267052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s-AR" sz="2000" dirty="0">
                <a:solidFill>
                  <a:srgbClr val="C00000"/>
                </a:solidFill>
              </a:rPr>
              <a:t>Ejemplos:</a:t>
            </a:r>
          </a:p>
          <a:p>
            <a:pPr>
              <a:defRPr/>
            </a:pPr>
            <a:r>
              <a:rPr lang="es-AR" sz="2000" b="1" dirty="0">
                <a:solidFill>
                  <a:srgbClr val="C00000"/>
                </a:solidFill>
              </a:rPr>
              <a:t>¿Cómo se escribe la palabra…?</a:t>
            </a:r>
          </a:p>
          <a:p>
            <a:pPr>
              <a:defRPr/>
            </a:pPr>
            <a:r>
              <a:rPr lang="es-AR" sz="2000" b="1" dirty="0">
                <a:solidFill>
                  <a:srgbClr val="C00000"/>
                </a:solidFill>
              </a:rPr>
              <a:t>El uso de comas ayuda a entender la intención del mensaje.</a:t>
            </a:r>
          </a:p>
        </p:txBody>
      </p:sp>
    </p:spTree>
    <p:extLst>
      <p:ext uri="{BB962C8B-B14F-4D97-AF65-F5344CB8AC3E}">
        <p14:creationId xmlns:p14="http://schemas.microsoft.com/office/powerpoint/2010/main" val="2242529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autoUpdateAnimBg="0"/>
      <p:bldP spid="22532" grpId="0" build="p" autoUpdateAnimBg="0"/>
      <p:bldP spid="22537" grpId="0" animBg="1"/>
      <p:bldP spid="22539" grpId="0" animBg="1" autoUpdateAnimBg="0"/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E25A56DC-3EDB-187F-4194-F3E5EE40E5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1676" y="481940"/>
            <a:ext cx="5257219" cy="765782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es-ES_tradnl" b="1" dirty="0">
                <a:solidFill>
                  <a:schemeClr val="tx1"/>
                </a:solidFill>
                <a:latin typeface="Arial" charset="0"/>
              </a:rPr>
              <a:t>6. Función Poética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F58D396F-F426-7419-A77D-24A52123D2C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230806" y="2662823"/>
            <a:ext cx="7550068" cy="160450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just">
              <a:buNone/>
              <a:defRPr/>
            </a:pPr>
            <a:r>
              <a:rPr lang="es-ES_tradnl" sz="2400" dirty="0">
                <a:solidFill>
                  <a:schemeClr val="accent1">
                    <a:lumMod val="50000"/>
                  </a:schemeClr>
                </a:solidFill>
                <a:latin typeface="Arial" charset="0"/>
              </a:rPr>
              <a:t>Se centra en cómo se organiza el texto y en el uso de las palabras. Tiene que ver con la literatura, pero también se usa en publicidad y en los refranes, dichos y cartas de amor.</a:t>
            </a:r>
            <a:endParaRPr lang="es-ES_tradnl" dirty="0">
              <a:solidFill>
                <a:schemeClr val="accent1">
                  <a:lumMod val="50000"/>
                </a:schemeClr>
              </a:solidFill>
              <a:latin typeface="Arial" charset="0"/>
            </a:endParaRPr>
          </a:p>
        </p:txBody>
      </p:sp>
      <p:pic>
        <p:nvPicPr>
          <p:cNvPr id="12292" name="Picture 5">
            <a:extLst>
              <a:ext uri="{FF2B5EF4-FFF2-40B4-BE49-F238E27FC236}">
                <a16:creationId xmlns:a16="http://schemas.microsoft.com/office/drawing/2014/main" id="{8C58CBD8-71B1-4A3F-CAB1-8B03C79138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74" b="15404"/>
          <a:stretch/>
        </p:blipFill>
        <p:spPr bwMode="auto">
          <a:xfrm>
            <a:off x="411126" y="1655804"/>
            <a:ext cx="3574768" cy="1869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4" name="Picture 6">
            <a:extLst>
              <a:ext uri="{FF2B5EF4-FFF2-40B4-BE49-F238E27FC236}">
                <a16:creationId xmlns:a16="http://schemas.microsoft.com/office/drawing/2014/main" id="{54C09AC5-8A6E-440B-4819-6A79357DD3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8"/>
          <a:stretch/>
        </p:blipFill>
        <p:spPr bwMode="auto">
          <a:xfrm>
            <a:off x="9628518" y="509080"/>
            <a:ext cx="1967563" cy="2081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7">
            <a:extLst>
              <a:ext uri="{FF2B5EF4-FFF2-40B4-BE49-F238E27FC236}">
                <a16:creationId xmlns:a16="http://schemas.microsoft.com/office/drawing/2014/main" id="{9CA42361-21A7-B8CC-8720-6667FC7B4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26" y="3751318"/>
            <a:ext cx="3574768" cy="120032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b"/>
              <a:defRPr kumimoji="1" sz="3200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800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s-MX" altLang="es-CL" sz="2400" dirty="0">
                <a:latin typeface="Arial" panose="020B0604020202020204" pitchFamily="34" charset="0"/>
              </a:rPr>
              <a:t>El elemento común es la belleza del mensaje en sí mismo.</a:t>
            </a:r>
            <a:endParaRPr lang="es-ES" altLang="es-CL" sz="2400" dirty="0">
              <a:latin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A569B14-79DE-ADA0-0CE1-65E110F8FFE7}"/>
              </a:ext>
            </a:extLst>
          </p:cNvPr>
          <p:cNvSpPr txBox="1"/>
          <p:nvPr/>
        </p:nvSpPr>
        <p:spPr>
          <a:xfrm>
            <a:off x="5053509" y="4951647"/>
            <a:ext cx="5717272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sz="2000" b="1" dirty="0">
                <a:solidFill>
                  <a:schemeClr val="tx1"/>
                </a:solidFill>
              </a:rPr>
              <a:t>Ejemplos:</a:t>
            </a:r>
          </a:p>
          <a:p>
            <a:r>
              <a:rPr lang="es-ES" sz="2000" dirty="0">
                <a:solidFill>
                  <a:schemeClr val="tx1"/>
                </a:solidFill>
              </a:rPr>
              <a:t>- Inca Kola, la bebida del Perú.</a:t>
            </a:r>
          </a:p>
          <a:p>
            <a:r>
              <a:rPr lang="es-ES" sz="2000" dirty="0">
                <a:solidFill>
                  <a:schemeClr val="tx1"/>
                </a:solidFill>
              </a:rPr>
              <a:t>- Al que madruga, Dios le ayuda.</a:t>
            </a:r>
          </a:p>
          <a:p>
            <a:r>
              <a:rPr lang="es-ES" sz="2000" dirty="0">
                <a:solidFill>
                  <a:schemeClr val="tx1"/>
                </a:solidFill>
              </a:rPr>
              <a:t>- Mi corazón arde de amor por ti</a:t>
            </a:r>
            <a:endParaRPr lang="es-E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151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  <p:bldP spid="21507" grpId="0" build="p" autoUpdateAnimBg="0"/>
      <p:bldP spid="9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>
            <a:extLst>
              <a:ext uri="{FF2B5EF4-FFF2-40B4-BE49-F238E27FC236}">
                <a16:creationId xmlns:a16="http://schemas.microsoft.com/office/drawing/2014/main" id="{702BBB5D-4D43-1134-A6F7-51C1965680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95637" y="825412"/>
            <a:ext cx="6069013" cy="1050925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s-MX" altLang="es-CL" sz="3200" dirty="0">
                <a:latin typeface="Abadi" panose="020B0604020104020204" pitchFamily="34" charset="0"/>
              </a:rPr>
              <a:t>Ahora veamos el siguiente video que nos muestra ejemplos…</a:t>
            </a:r>
            <a:endParaRPr lang="es-ES" altLang="es-CL" sz="3200" dirty="0">
              <a:latin typeface="Abadi" panose="020B0604020104020204" pitchFamily="34" charset="0"/>
            </a:endParaRPr>
          </a:p>
        </p:txBody>
      </p:sp>
      <p:pic>
        <p:nvPicPr>
          <p:cNvPr id="15363" name="Picture 6">
            <a:hlinkClick r:id="rId2"/>
            <a:extLst>
              <a:ext uri="{FF2B5EF4-FFF2-40B4-BE49-F238E27FC236}">
                <a16:creationId xmlns:a16="http://schemas.microsoft.com/office/drawing/2014/main" id="{068A1C43-7770-3AF5-BA85-89943742D7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32"/>
          <a:stretch/>
        </p:blipFill>
        <p:spPr bwMode="auto">
          <a:xfrm>
            <a:off x="7700962" y="2060576"/>
            <a:ext cx="1563688" cy="1368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Imagen 1">
            <a:extLst>
              <a:ext uri="{FF2B5EF4-FFF2-40B4-BE49-F238E27FC236}">
                <a16:creationId xmlns:a16="http://schemas.microsoft.com/office/drawing/2014/main" id="{522A6CF9-4FDC-1DD4-7536-215AADD50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6809" y="3613241"/>
            <a:ext cx="6624638" cy="224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A1FF0BB-AC8C-1619-A090-1AB17980E492}"/>
              </a:ext>
            </a:extLst>
          </p:cNvPr>
          <p:cNvSpPr txBox="1"/>
          <p:nvPr/>
        </p:nvSpPr>
        <p:spPr>
          <a:xfrm>
            <a:off x="1311215" y="2560122"/>
            <a:ext cx="6069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https://www.youtube.com/watch?v=kga1lDKjYUE</a:t>
            </a:r>
          </a:p>
        </p:txBody>
      </p:sp>
    </p:spTree>
    <p:extLst>
      <p:ext uri="{BB962C8B-B14F-4D97-AF65-F5344CB8AC3E}">
        <p14:creationId xmlns:p14="http://schemas.microsoft.com/office/powerpoint/2010/main" val="3198799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1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5" descr="1">
            <a:extLst>
              <a:ext uri="{FF2B5EF4-FFF2-40B4-BE49-F238E27FC236}">
                <a16:creationId xmlns:a16="http://schemas.microsoft.com/office/drawing/2014/main" id="{9E7B7404-4CCA-A681-457D-83D224D53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6286" y="430213"/>
            <a:ext cx="3276600" cy="295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5">
            <a:extLst>
              <a:ext uri="{FF2B5EF4-FFF2-40B4-BE49-F238E27FC236}">
                <a16:creationId xmlns:a16="http://schemas.microsoft.com/office/drawing/2014/main" id="{E62DD51A-23F3-E9DC-88E7-27CFBF7DD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149" y="430213"/>
            <a:ext cx="2727325" cy="251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6" name="Picture 6">
            <a:extLst>
              <a:ext uri="{FF2B5EF4-FFF2-40B4-BE49-F238E27FC236}">
                <a16:creationId xmlns:a16="http://schemas.microsoft.com/office/drawing/2014/main" id="{501C8B61-D1A0-9625-DFD2-E9460F37A9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03" b="10271"/>
          <a:stretch/>
        </p:blipFill>
        <p:spPr bwMode="auto">
          <a:xfrm>
            <a:off x="4533361" y="1946879"/>
            <a:ext cx="2840038" cy="190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7" name="Picture 7">
            <a:extLst>
              <a:ext uri="{FF2B5EF4-FFF2-40B4-BE49-F238E27FC236}">
                <a16:creationId xmlns:a16="http://schemas.microsoft.com/office/drawing/2014/main" id="{16F1F174-96ED-5915-9B5E-0DF53B284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149" y="3427844"/>
            <a:ext cx="3232150" cy="2855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8" name="Picture 8">
            <a:extLst>
              <a:ext uri="{FF2B5EF4-FFF2-40B4-BE49-F238E27FC236}">
                <a16:creationId xmlns:a16="http://schemas.microsoft.com/office/drawing/2014/main" id="{80CECFB1-F353-26D2-F33D-BC1023EAD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0619" y="4116532"/>
            <a:ext cx="2849345" cy="2324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9" name="Picture 9">
            <a:extLst>
              <a:ext uri="{FF2B5EF4-FFF2-40B4-BE49-F238E27FC236}">
                <a16:creationId xmlns:a16="http://schemas.microsoft.com/office/drawing/2014/main" id="{3E0D25DA-8880-C04E-D32A-76A5A27BB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2574" y="3967728"/>
            <a:ext cx="3517390" cy="2316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Rectángulo">
            <a:extLst>
              <a:ext uri="{FF2B5EF4-FFF2-40B4-BE49-F238E27FC236}">
                <a16:creationId xmlns:a16="http://schemas.microsoft.com/office/drawing/2014/main" id="{2DAEB501-E579-AD2F-D018-48119CA8189D}"/>
              </a:ext>
            </a:extLst>
          </p:cNvPr>
          <p:cNvSpPr/>
          <p:nvPr/>
        </p:nvSpPr>
        <p:spPr>
          <a:xfrm>
            <a:off x="4440239" y="115889"/>
            <a:ext cx="2879725" cy="157003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s-CL" sz="3200" b="1" dirty="0">
                <a:latin typeface="Calibri" panose="020F0502020204030204" pitchFamily="34" charset="0"/>
              </a:rPr>
              <a:t>Reconozcamos las funciones presentes </a:t>
            </a:r>
          </a:p>
        </p:txBody>
      </p:sp>
    </p:spTree>
    <p:extLst>
      <p:ext uri="{BB962C8B-B14F-4D97-AF65-F5344CB8AC3E}">
        <p14:creationId xmlns:p14="http://schemas.microsoft.com/office/powerpoint/2010/main" val="2093259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F00E2335-8EE9-B5E1-E9A2-4087AEABA0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8283" y="549276"/>
            <a:ext cx="2788373" cy="498289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s-MX" sz="2400" b="1" dirty="0"/>
              <a:t>PRACTIQUEMOS</a:t>
            </a:r>
            <a:endParaRPr lang="es-ES" sz="2400" b="1" dirty="0"/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6C916FFE-AE6B-769B-EF50-285928FCAA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4150" y="1619900"/>
            <a:ext cx="10904560" cy="354690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s-MX" sz="2600" dirty="0">
                <a:latin typeface="Arial" pitchFamily="34" charset="0"/>
                <a:cs typeface="Arial" pitchFamily="34" charset="0"/>
              </a:rPr>
              <a:t>Cuando en el mensaje predomina la intención de entablar la comunicación, estamos frente a la función……..……..del lenguaje.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s-MX" sz="2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	FÁTICA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s-MX" sz="26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s-MX" sz="2600" dirty="0">
                <a:latin typeface="Arial" pitchFamily="34" charset="0"/>
                <a:cs typeface="Arial" pitchFamily="34" charset="0"/>
              </a:rPr>
              <a:t>Si Ana le dice a su hermano: ¡Quítate de ahí!, su mensaje cumple función …………………….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s-MX" sz="26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APELATIVA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6F583AE-ED28-060B-CAB1-7834CB8BE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72" y="470881"/>
            <a:ext cx="682811" cy="68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5948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7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9" name="Rectangle 3">
            <a:extLst>
              <a:ext uri="{FF2B5EF4-FFF2-40B4-BE49-F238E27FC236}">
                <a16:creationId xmlns:a16="http://schemas.microsoft.com/office/drawing/2014/main" id="{6409E495-2295-1C1B-9BB3-5D9EA3DD2C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68740" y="641446"/>
            <a:ext cx="10849970" cy="534992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s-MX" sz="2600" dirty="0">
                <a:latin typeface="Arial" pitchFamily="34" charset="0"/>
                <a:cs typeface="Arial" pitchFamily="34" charset="0"/>
              </a:rPr>
              <a:t>La función ………… se relaciona directamente con el código. 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s-MX" sz="26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METALINGÜÍSTICA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s-MX" sz="26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s-MX" sz="2600" dirty="0">
                <a:latin typeface="Arial" pitchFamily="34" charset="0"/>
                <a:cs typeface="Arial" pitchFamily="34" charset="0"/>
              </a:rPr>
              <a:t>Cuando manifestamos nuestros sentimientos en los mensajes que emitimos, estamos frente a la función…………………..del lenguaje.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s-MX" sz="2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	EXPRESIVA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s-MX" sz="26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s-MX" sz="2600" dirty="0">
                <a:latin typeface="Arial" pitchFamily="34" charset="0"/>
                <a:cs typeface="Arial" pitchFamily="34" charset="0"/>
              </a:rPr>
              <a:t>La función que se relaciona directamente con la mejora del código es la función………………….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s-MX" sz="2600" dirty="0">
                <a:latin typeface="Arial" pitchFamily="34" charset="0"/>
                <a:cs typeface="Arial" pitchFamily="34" charset="0"/>
              </a:rPr>
              <a:t>	</a:t>
            </a:r>
            <a:r>
              <a:rPr lang="es-MX" sz="2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METALINGÜÍSTICA</a:t>
            </a:r>
            <a:endParaRPr lang="es-ES" sz="26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8746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21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21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21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77A05B-8708-E071-8BEE-59319FB3A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75" y="295821"/>
            <a:ext cx="4984966" cy="3190245"/>
          </a:xfrm>
          <a:solidFill>
            <a:srgbClr val="FFFFCC"/>
          </a:solidFill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s-CL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 LA FUNCIÓN DEL LENGUAJE QUE </a:t>
            </a:r>
            <a:r>
              <a:rPr lang="es-CL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CENTRA EN EL </a:t>
            </a:r>
            <a:r>
              <a:rPr lang="es-CL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CONTENIDO SE LLAMA</a:t>
            </a:r>
          </a:p>
          <a:p>
            <a:pPr>
              <a:lnSpc>
                <a:spcPct val="120000"/>
              </a:lnSpc>
              <a:defRPr/>
            </a:pPr>
            <a:endParaRPr lang="es-CL" sz="180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s-CL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A)   EXPRESIVA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s-CL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B)   APELATIVA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s-CL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C)   METALINGUISTICA 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s-CL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D)   </a:t>
            </a:r>
            <a:r>
              <a:rPr lang="es-CL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REFERENCIAL</a:t>
            </a:r>
            <a:endParaRPr lang="es-CL" sz="180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lang="en-US" sz="1100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5D7E3093-BCDD-6E04-3C9A-32DBA0894445}"/>
              </a:ext>
            </a:extLst>
          </p:cNvPr>
          <p:cNvSpPr txBox="1">
            <a:spLocks/>
          </p:cNvSpPr>
          <p:nvPr/>
        </p:nvSpPr>
        <p:spPr>
          <a:xfrm>
            <a:off x="5664917" y="2674960"/>
            <a:ext cx="6108994" cy="312606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Clr>
                <a:sysClr val="window" lastClr="FFFFFF"/>
              </a:buClr>
              <a:buNone/>
              <a:defRPr/>
            </a:pPr>
            <a:r>
              <a:rPr lang="es-CL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 LA FUNCIÓN APELATIVA DEL LENGUAJE BUSCA:</a:t>
            </a:r>
          </a:p>
          <a:p>
            <a:pPr marL="0" indent="0" fontAlgn="auto">
              <a:buClr>
                <a:sysClr val="window" lastClr="FFFFFF"/>
              </a:buClr>
              <a:buNone/>
              <a:defRPr/>
            </a:pPr>
            <a:r>
              <a:rPr lang="es-CL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A)   INFLUIR SOBRE EL RECEPTOR</a:t>
            </a:r>
          </a:p>
          <a:p>
            <a:pPr marL="0" indent="0" fontAlgn="auto">
              <a:buClr>
                <a:sysClr val="window" lastClr="FFFFFF"/>
              </a:buClr>
              <a:buNone/>
              <a:defRPr/>
            </a:pPr>
            <a:r>
              <a:rPr lang="es-CL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B)   INFORMAR AL OYENTE ACERCA DEL EMISOR</a:t>
            </a:r>
          </a:p>
          <a:p>
            <a:pPr marL="0" indent="0" fontAlgn="auto">
              <a:buClr>
                <a:sysClr val="window" lastClr="FFFFFF"/>
              </a:buClr>
              <a:buNone/>
              <a:defRPr/>
            </a:pPr>
            <a:r>
              <a:rPr lang="es-CL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C)  MANTENER LA COMUNICACIÓN</a:t>
            </a:r>
          </a:p>
          <a:p>
            <a:pPr marL="0" indent="0" fontAlgn="auto">
              <a:buClr>
                <a:sysClr val="window" lastClr="FFFFFF"/>
              </a:buClr>
              <a:buNone/>
              <a:defRPr/>
            </a:pPr>
            <a:r>
              <a:rPr lang="es-CL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D) ACLARAR UN TÉRMINO.</a:t>
            </a: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7234CF65-2C9F-ED10-0A6E-8D0F231D4919}"/>
              </a:ext>
            </a:extLst>
          </p:cNvPr>
          <p:cNvSpPr/>
          <p:nvPr/>
        </p:nvSpPr>
        <p:spPr>
          <a:xfrm>
            <a:off x="289375" y="2968612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304A7531-25CA-32FF-DCFE-20A965243642}"/>
              </a:ext>
            </a:extLst>
          </p:cNvPr>
          <p:cNvSpPr/>
          <p:nvPr/>
        </p:nvSpPr>
        <p:spPr>
          <a:xfrm>
            <a:off x="5664917" y="3651505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25300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animBg="1"/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8F00C2A5-8046-A163-049C-4BAAD48BC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872" y="517587"/>
            <a:ext cx="6218838" cy="3821375"/>
          </a:xfrm>
          <a:solidFill>
            <a:srgbClr val="C6FEF5"/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  <a:defRPr/>
            </a:pPr>
            <a:endParaRPr lang="es-CL" b="1" dirty="0">
              <a:solidFill>
                <a:srgbClr val="FFFF00"/>
              </a:solidFill>
            </a:endParaRPr>
          </a:p>
          <a:p>
            <a:pPr marL="0" indent="0">
              <a:buNone/>
              <a:defRPr/>
            </a:pPr>
            <a:r>
              <a:rPr lang="es-CL" b="1" dirty="0">
                <a:solidFill>
                  <a:schemeClr val="accent1">
                    <a:lumMod val="50000"/>
                  </a:schemeClr>
                </a:solidFill>
              </a:rPr>
              <a:t>3.  BUSCAR UNA PALABRA EN EL DICCIONARIO CORRESPONDE A LA FUNCIÓN</a:t>
            </a:r>
          </a:p>
          <a:p>
            <a:pPr>
              <a:defRPr/>
            </a:pPr>
            <a:endParaRPr lang="es-CL" b="1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  <a:defRPr/>
            </a:pPr>
            <a:r>
              <a:rPr lang="es-CL" b="1" dirty="0">
                <a:solidFill>
                  <a:schemeClr val="accent1">
                    <a:lumMod val="50000"/>
                  </a:schemeClr>
                </a:solidFill>
              </a:rPr>
              <a:t>A)   EXPRESIVA</a:t>
            </a:r>
          </a:p>
          <a:p>
            <a:pPr>
              <a:defRPr/>
            </a:pPr>
            <a:endParaRPr lang="es-CL" b="1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  <a:defRPr/>
            </a:pPr>
            <a:r>
              <a:rPr lang="es-CL" b="1" dirty="0">
                <a:solidFill>
                  <a:schemeClr val="accent1">
                    <a:lumMod val="50000"/>
                  </a:schemeClr>
                </a:solidFill>
              </a:rPr>
              <a:t>B)   APELATIVA</a:t>
            </a:r>
          </a:p>
          <a:p>
            <a:pPr>
              <a:defRPr/>
            </a:pPr>
            <a:endParaRPr lang="es-CL" b="1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  <a:defRPr/>
            </a:pPr>
            <a:r>
              <a:rPr lang="es-CL" b="1" dirty="0">
                <a:solidFill>
                  <a:schemeClr val="accent1">
                    <a:lumMod val="50000"/>
                  </a:schemeClr>
                </a:solidFill>
              </a:rPr>
              <a:t>C)    METALINGÜÍSTICA</a:t>
            </a:r>
          </a:p>
          <a:p>
            <a:pPr>
              <a:defRPr/>
            </a:pPr>
            <a:endParaRPr lang="es-CL" b="1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  <a:defRPr/>
            </a:pPr>
            <a:r>
              <a:rPr lang="es-CL" b="1" dirty="0">
                <a:solidFill>
                  <a:schemeClr val="accent1">
                    <a:lumMod val="50000"/>
                  </a:schemeClr>
                </a:solidFill>
              </a:rPr>
              <a:t>D)   FÁTICA</a:t>
            </a:r>
            <a:endParaRPr lang="en-US" dirty="0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090CB0D5-3E6E-ECE2-A900-109AA09D9B5C}"/>
              </a:ext>
            </a:extLst>
          </p:cNvPr>
          <p:cNvSpPr txBox="1">
            <a:spLocks/>
          </p:cNvSpPr>
          <p:nvPr/>
        </p:nvSpPr>
        <p:spPr bwMode="auto">
          <a:xfrm>
            <a:off x="5803299" y="2308477"/>
            <a:ext cx="5887582" cy="40609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b"/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s-CL" sz="2000" b="1" kern="0" dirty="0">
                <a:solidFill>
                  <a:schemeClr val="accent6">
                    <a:lumMod val="50000"/>
                  </a:schemeClr>
                </a:solidFill>
                <a:effectLst/>
              </a:rPr>
              <a:t>4.  ¿QUÉ EJEMPLO CORRESPONDE A LA FUNCIÓN FÁTICA DEL LENGUAJE</a:t>
            </a:r>
          </a:p>
          <a:p>
            <a:pPr>
              <a:defRPr/>
            </a:pPr>
            <a:endParaRPr lang="es-CL" sz="2000" b="1" kern="0" dirty="0">
              <a:solidFill>
                <a:schemeClr val="accent6">
                  <a:lumMod val="50000"/>
                </a:schemeClr>
              </a:solidFill>
              <a:effectLst/>
            </a:endParaRPr>
          </a:p>
          <a:p>
            <a:pPr marL="0" indent="0">
              <a:buNone/>
              <a:defRPr/>
            </a:pPr>
            <a:r>
              <a:rPr lang="es-CL" sz="2000" b="1" kern="0" dirty="0">
                <a:solidFill>
                  <a:schemeClr val="accent6">
                    <a:lumMod val="50000"/>
                  </a:schemeClr>
                </a:solidFill>
                <a:effectLst/>
              </a:rPr>
              <a:t>A)   HACE MUCHO CALOR EN ESTOS DÍAS</a:t>
            </a:r>
          </a:p>
          <a:p>
            <a:pPr>
              <a:defRPr/>
            </a:pPr>
            <a:endParaRPr lang="es-CL" sz="2000" b="1" kern="0" dirty="0">
              <a:solidFill>
                <a:schemeClr val="accent6">
                  <a:lumMod val="50000"/>
                </a:schemeClr>
              </a:solidFill>
              <a:effectLst/>
            </a:endParaRPr>
          </a:p>
          <a:p>
            <a:pPr marL="0" indent="0">
              <a:buNone/>
              <a:defRPr/>
            </a:pPr>
            <a:r>
              <a:rPr lang="es-CL" sz="2000" b="1" kern="0" dirty="0">
                <a:solidFill>
                  <a:schemeClr val="accent6">
                    <a:lumMod val="50000"/>
                  </a:schemeClr>
                </a:solidFill>
                <a:effectLst/>
              </a:rPr>
              <a:t>B)   HOLA, ¿HAY ALGUIEN?</a:t>
            </a:r>
          </a:p>
          <a:p>
            <a:pPr>
              <a:defRPr/>
            </a:pPr>
            <a:endParaRPr lang="es-CL" sz="2000" b="1" kern="0" dirty="0">
              <a:solidFill>
                <a:schemeClr val="accent6">
                  <a:lumMod val="50000"/>
                </a:schemeClr>
              </a:solidFill>
              <a:effectLst/>
            </a:endParaRPr>
          </a:p>
          <a:p>
            <a:pPr marL="0" indent="0">
              <a:buNone/>
              <a:defRPr/>
            </a:pPr>
            <a:r>
              <a:rPr lang="es-CL" sz="2000" b="1" kern="0" dirty="0">
                <a:solidFill>
                  <a:schemeClr val="accent6">
                    <a:lumMod val="50000"/>
                  </a:schemeClr>
                </a:solidFill>
                <a:effectLst/>
              </a:rPr>
              <a:t>C)    NECESITO RESPIRAR, LA MASCARILLA ME AHOGA.</a:t>
            </a:r>
          </a:p>
          <a:p>
            <a:pPr>
              <a:defRPr/>
            </a:pPr>
            <a:endParaRPr lang="es-CL" sz="2000" b="1" kern="0" dirty="0">
              <a:solidFill>
                <a:schemeClr val="accent6">
                  <a:lumMod val="50000"/>
                </a:schemeClr>
              </a:solidFill>
              <a:effectLst/>
            </a:endParaRPr>
          </a:p>
          <a:p>
            <a:pPr marL="0" indent="0">
              <a:buNone/>
              <a:defRPr/>
            </a:pPr>
            <a:r>
              <a:rPr lang="es-CL" sz="2000" b="1" kern="0" dirty="0">
                <a:solidFill>
                  <a:schemeClr val="accent6">
                    <a:lumMod val="50000"/>
                  </a:schemeClr>
                </a:solidFill>
                <a:effectLst/>
              </a:rPr>
              <a:t>D)   ¡QUÉDATE QUIETA!</a:t>
            </a:r>
          </a:p>
          <a:p>
            <a:pPr>
              <a:defRPr/>
            </a:pPr>
            <a:endParaRPr lang="en-US" kern="0" dirty="0"/>
          </a:p>
        </p:txBody>
      </p:sp>
      <p:sp>
        <p:nvSpPr>
          <p:cNvPr id="3" name="Diagrama de flujo: conector 2">
            <a:extLst>
              <a:ext uri="{FF2B5EF4-FFF2-40B4-BE49-F238E27FC236}">
                <a16:creationId xmlns:a16="http://schemas.microsoft.com/office/drawing/2014/main" id="{DA7AA068-1C41-4981-61F4-1143A6949777}"/>
              </a:ext>
            </a:extLst>
          </p:cNvPr>
          <p:cNvSpPr/>
          <p:nvPr/>
        </p:nvSpPr>
        <p:spPr>
          <a:xfrm>
            <a:off x="727872" y="3011717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5CB13DCD-E28B-2862-14EE-7B79C48E941D}"/>
              </a:ext>
            </a:extLst>
          </p:cNvPr>
          <p:cNvSpPr/>
          <p:nvPr/>
        </p:nvSpPr>
        <p:spPr>
          <a:xfrm>
            <a:off x="5802512" y="4110361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5817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  <p:bldP spid="5" grpId="0" animBg="1"/>
      <p:bldP spid="3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077BF4-3707-E45E-8586-D4ECEBA48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Resumen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EF2D4D-1F76-851A-D8B2-CFB44ED48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dirty="0"/>
          </a:p>
        </p:txBody>
      </p:sp>
      <p:pic>
        <p:nvPicPr>
          <p:cNvPr id="26628" name="Picture 2">
            <a:extLst>
              <a:ext uri="{FF2B5EF4-FFF2-40B4-BE49-F238E27FC236}">
                <a16:creationId xmlns:a16="http://schemas.microsoft.com/office/drawing/2014/main" id="{252BB684-4DDD-1338-B4EC-A7F2F5358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8"/>
          <a:stretch>
            <a:fillRect/>
          </a:stretch>
        </p:blipFill>
        <p:spPr bwMode="auto">
          <a:xfrm>
            <a:off x="2269271" y="1191233"/>
            <a:ext cx="6898755" cy="4843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02784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255</TotalTime>
  <Words>719</Words>
  <Application>Microsoft Office PowerPoint</Application>
  <PresentationFormat>Panorámica</PresentationFormat>
  <Paragraphs>108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Abadi</vt:lpstr>
      <vt:lpstr>Arial</vt:lpstr>
      <vt:lpstr>Calibri</vt:lpstr>
      <vt:lpstr>Century Gothic</vt:lpstr>
      <vt:lpstr>Garamond</vt:lpstr>
      <vt:lpstr>Times New Roman</vt:lpstr>
      <vt:lpstr>Savon</vt:lpstr>
      <vt:lpstr>LA COMUNICACIÓN: FUNCIONES COMUNICATIVAS</vt:lpstr>
      <vt:lpstr>Objetivos de aprendizaje</vt:lpstr>
      <vt:lpstr>LEAMOS</vt:lpstr>
      <vt:lpstr>Funciones del Lenguaje</vt:lpstr>
      <vt:lpstr>1. Función Emotiva o expresiva</vt:lpstr>
      <vt:lpstr>2. Función Apelativa</vt:lpstr>
      <vt:lpstr>3. Función Referencial</vt:lpstr>
      <vt:lpstr>4. Función Fática</vt:lpstr>
      <vt:lpstr>5. Función Metalingüística</vt:lpstr>
      <vt:lpstr>6. Función Poética</vt:lpstr>
      <vt:lpstr>Ahora veamos el siguiente video que nos muestra ejemplos…</vt:lpstr>
      <vt:lpstr>Presentación de PowerPoint</vt:lpstr>
      <vt:lpstr>PRACTIQUEMOS</vt:lpstr>
      <vt:lpstr>Presentación de PowerPoint</vt:lpstr>
      <vt:lpstr>Presentación de PowerPoint</vt:lpstr>
      <vt:lpstr>Presentación de PowerPoint</vt:lpstr>
      <vt:lpstr>Resumen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LENGUAJE Y COMUNICACIÓN</dc:title>
  <dc:creator>pde001</dc:creator>
  <cp:lastModifiedBy>Elizabeth Alexandra Muñoz Cañulef</cp:lastModifiedBy>
  <cp:revision>17</cp:revision>
  <dcterms:created xsi:type="dcterms:W3CDTF">2023-03-24T22:09:03Z</dcterms:created>
  <dcterms:modified xsi:type="dcterms:W3CDTF">2026-04-10T23:27:36Z</dcterms:modified>
</cp:coreProperties>
</file>