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CL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64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44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550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35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500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82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259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1122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9409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91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17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20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92397" y="2325190"/>
            <a:ext cx="6815669" cy="181573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s-MX" sz="4000" dirty="0"/>
              <a:t>LA COMUNICACIÓN: ACTOS DE HABLA</a:t>
            </a:r>
            <a:endParaRPr lang="en-US" sz="4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49152" y="4710023"/>
            <a:ext cx="6815669" cy="580434"/>
          </a:xfrm>
        </p:spPr>
        <p:txBody>
          <a:bodyPr/>
          <a:lstStyle/>
          <a:p>
            <a:r>
              <a:rPr lang="es-MX" dirty="0"/>
              <a:t>LENGUAJE Y COMUNICACIÓN – PRIMER Y SEGUNDO NIVEL EM</a:t>
            </a:r>
          </a:p>
          <a:p>
            <a:r>
              <a:rPr lang="es-MX" dirty="0"/>
              <a:t>PROFESORA: ELIZABETH MUÑOZ</a:t>
            </a:r>
            <a:endParaRPr lang="en-US" dirty="0"/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8920" y="310550"/>
            <a:ext cx="1534160" cy="153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34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0203" y="428264"/>
            <a:ext cx="3168770" cy="789391"/>
          </a:xfrm>
        </p:spPr>
        <p:txBody>
          <a:bodyPr/>
          <a:lstStyle/>
          <a:p>
            <a:r>
              <a:rPr lang="es-MX" dirty="0"/>
              <a:t>OBJETIVO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0203" y="1663173"/>
            <a:ext cx="11346612" cy="12698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3200" dirty="0"/>
              <a:t>Reconocer e identificar los actos de habla utilizados por los hablantes del idioma castellano. </a:t>
            </a:r>
            <a:endParaRPr lang="en-US" sz="3200" dirty="0"/>
          </a:p>
        </p:txBody>
      </p:sp>
      <p:pic>
        <p:nvPicPr>
          <p:cNvPr id="1026" name="Picture 2" descr="296,557 imágenes, fotos de stock, objetos en 3D y vectores sobre Personas  hablando dibujo | Shutterstock">
            <a:extLst>
              <a:ext uri="{FF2B5EF4-FFF2-40B4-BE49-F238E27FC236}">
                <a16:creationId xmlns:a16="http://schemas.microsoft.com/office/drawing/2014/main" id="{37D9C122-0E5B-E2E9-1600-2146B62324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9" t="15230" r="4992" b="22992"/>
          <a:stretch/>
        </p:blipFill>
        <p:spPr bwMode="auto">
          <a:xfrm>
            <a:off x="1017915" y="3594626"/>
            <a:ext cx="4261449" cy="214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45">
            <a:extLst>
              <a:ext uri="{FF2B5EF4-FFF2-40B4-BE49-F238E27FC236}">
                <a16:creationId xmlns:a16="http://schemas.microsoft.com/office/drawing/2014/main" id="{7D410C22-DD07-4C0C-BD56-CB1B83BB9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5554" y="4508431"/>
            <a:ext cx="2035175" cy="1015663"/>
          </a:xfrm>
          <a:prstGeom prst="rect">
            <a:avLst/>
          </a:prstGeom>
          <a:solidFill>
            <a:schemeClr val="accent1">
              <a:lumMod val="40000"/>
              <a:lumOff val="60000"/>
              <a:alpha val="85097"/>
            </a:schemeClr>
          </a:solidFill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¡"/>
              <a:defRPr sz="2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l"/>
              <a:defRPr sz="23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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s-ES" altLang="es-CL" sz="2000" b="1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No olvide silenciar su teléfono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964F4E-858C-B251-CCFB-E5A17BF78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950" y="3989807"/>
            <a:ext cx="1811369" cy="181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52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CTOS DE HABLA | pragmatica2000">
            <a:extLst>
              <a:ext uri="{FF2B5EF4-FFF2-40B4-BE49-F238E27FC236}">
                <a16:creationId xmlns:a16="http://schemas.microsoft.com/office/drawing/2014/main" id="{F836A7DD-6350-1735-9B55-822C51C04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0" r="24005" b="1"/>
          <a:stretch/>
        </p:blipFill>
        <p:spPr bwMode="auto">
          <a:xfrm>
            <a:off x="190846" y="237744"/>
            <a:ext cx="4040033" cy="638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5" name="Rectangle 2054">
            <a:extLst>
              <a:ext uri="{FF2B5EF4-FFF2-40B4-BE49-F238E27FC236}">
                <a16:creationId xmlns:a16="http://schemas.microsoft.com/office/drawing/2014/main" id="{BE7270DF-375F-4ECC-989A-D033E481A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9465" y="237744"/>
            <a:ext cx="7652977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422036" y="1007824"/>
            <a:ext cx="7387834" cy="418527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/>
            <a:r>
              <a:rPr lang="es-CL" sz="2800" dirty="0"/>
              <a:t>El lenguaje no solo sirve para representar o describir la realidad, sino que muchas veces la </a:t>
            </a:r>
            <a:r>
              <a:rPr lang="es-CL" sz="2800" b="1" i="1" dirty="0"/>
              <a:t>modifica.</a:t>
            </a:r>
          </a:p>
          <a:p>
            <a:pPr algn="just"/>
            <a:endParaRPr lang="es-CL" sz="2800" dirty="0"/>
          </a:p>
          <a:p>
            <a:pPr algn="just"/>
            <a:r>
              <a:rPr lang="es-CL" sz="2800" dirty="0"/>
              <a:t>Desde esta perspectiva, existen unidades verbales mediante las cuales un hablante </a:t>
            </a:r>
            <a:r>
              <a:rPr lang="es-CL" sz="2800" i="1" dirty="0"/>
              <a:t>persigue un propósito</a:t>
            </a:r>
            <a:r>
              <a:rPr lang="es-CL" sz="2800" dirty="0"/>
              <a:t>, estas unidades reciben el nombre de </a:t>
            </a:r>
            <a:r>
              <a:rPr lang="es-CL" sz="2800" b="1" dirty="0"/>
              <a:t>actos de habla.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80809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7803" y="414068"/>
            <a:ext cx="11490385" cy="6047117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CL" sz="2600" dirty="0"/>
              <a:t>Cuando un profesor dice “silencio” no solo está emitiendo un mensaje, sino que da una orden que invita a poner atención a lo que dirá. </a:t>
            </a:r>
          </a:p>
          <a:p>
            <a:pPr marL="0" indent="0" algn="just">
              <a:buNone/>
            </a:pPr>
            <a:endParaRPr lang="es-CL" sz="2600" dirty="0"/>
          </a:p>
          <a:p>
            <a:pPr marL="0" indent="0" algn="just">
              <a:buNone/>
            </a:pPr>
            <a:r>
              <a:rPr lang="es-CL" sz="2600" dirty="0"/>
              <a:t>Cada acto posee </a:t>
            </a:r>
            <a:r>
              <a:rPr lang="es-CL" sz="2600" b="1" dirty="0"/>
              <a:t>tres dimensiones</a:t>
            </a:r>
            <a:r>
              <a:rPr lang="es-CL" sz="2600" dirty="0"/>
              <a:t>:</a:t>
            </a:r>
            <a:endParaRPr lang="en-US" sz="2600" dirty="0"/>
          </a:p>
          <a:p>
            <a:pPr algn="just"/>
            <a:r>
              <a:rPr lang="es-CL" sz="2600" b="1" dirty="0" err="1"/>
              <a:t>Ilocutiva</a:t>
            </a:r>
            <a:r>
              <a:rPr lang="es-CL" sz="2600" b="1" dirty="0"/>
              <a:t>: </a:t>
            </a:r>
            <a:r>
              <a:rPr lang="es-CL" sz="2600" dirty="0"/>
              <a:t>Es el propósito del emisor. Ejemplo: Que los alumnos le presten atención. </a:t>
            </a:r>
            <a:endParaRPr lang="en-US" sz="2600" dirty="0"/>
          </a:p>
          <a:p>
            <a:pPr algn="just"/>
            <a:r>
              <a:rPr lang="es-CL" sz="2600" b="1" dirty="0" err="1"/>
              <a:t>Locutiva</a:t>
            </a:r>
            <a:r>
              <a:rPr lang="es-CL" sz="2600" b="1" dirty="0"/>
              <a:t>: </a:t>
            </a:r>
            <a:r>
              <a:rPr lang="es-CL" sz="2600" dirty="0"/>
              <a:t>Es el enunciado, mensaje o, simplemente, lo expresado. Ejemplo: Silencio. </a:t>
            </a:r>
            <a:endParaRPr lang="en-US" sz="2600" dirty="0"/>
          </a:p>
          <a:p>
            <a:pPr algn="just"/>
            <a:r>
              <a:rPr lang="es-CL" sz="2600" b="1" dirty="0" err="1"/>
              <a:t>Perlocutiva</a:t>
            </a:r>
            <a:r>
              <a:rPr lang="es-CL" sz="2600" b="1" dirty="0"/>
              <a:t>: </a:t>
            </a:r>
            <a:r>
              <a:rPr lang="es-CL" sz="2600" dirty="0"/>
              <a:t>Es el efecto causado en el receptor. Ejemplo: Reacción del curso al oír al profesor. 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27437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3961" y="348064"/>
            <a:ext cx="7164078" cy="1022304"/>
          </a:xfrm>
        </p:spPr>
        <p:txBody>
          <a:bodyPr>
            <a:normAutofit/>
          </a:bodyPr>
          <a:lstStyle/>
          <a:p>
            <a:r>
              <a:rPr lang="es-CL" b="1" u="sng" dirty="0"/>
              <a:t>Grado de explicitación</a:t>
            </a:r>
            <a:endParaRPr lang="en-US" b="1" u="sng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190" y="1587260"/>
            <a:ext cx="8013938" cy="293298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/>
            <a:r>
              <a:rPr lang="es-CL" sz="2500" dirty="0"/>
              <a:t>El </a:t>
            </a:r>
            <a:r>
              <a:rPr lang="es-CL" sz="2500" i="1" dirty="0"/>
              <a:t>hablante</a:t>
            </a:r>
            <a:r>
              <a:rPr lang="es-CL" sz="2500" dirty="0"/>
              <a:t> puede manifestar explícitamente sus propósitos o no evidenciarlos, y utilizar una fórmula que exige de parte del receptor ciertos conocimientos. </a:t>
            </a:r>
          </a:p>
          <a:p>
            <a:pPr algn="just"/>
            <a:r>
              <a:rPr lang="es-CL" sz="2500" dirty="0"/>
              <a:t>Los </a:t>
            </a:r>
            <a:r>
              <a:rPr lang="es-CL" sz="2500" b="1" dirty="0"/>
              <a:t>emisores</a:t>
            </a:r>
            <a:r>
              <a:rPr lang="es-CL" sz="2500" dirty="0"/>
              <a:t> pueden determinar </a:t>
            </a:r>
            <a:r>
              <a:rPr lang="es-CL" sz="2500" i="1" dirty="0"/>
              <a:t>cuándo es pertinente</a:t>
            </a:r>
            <a:r>
              <a:rPr lang="es-CL" sz="2500" dirty="0"/>
              <a:t> utilizar el acto de habla directo o el indirecto, según:</a:t>
            </a:r>
            <a:endParaRPr lang="en-US" sz="2500" dirty="0"/>
          </a:p>
        </p:txBody>
      </p:sp>
      <p:pic>
        <p:nvPicPr>
          <p:cNvPr id="1026" name="Picture 2" descr="Página 11 | Imágenes de Ilustracion Indirecta - Descarga gratuita en Freepik">
            <a:extLst>
              <a:ext uri="{FF2B5EF4-FFF2-40B4-BE49-F238E27FC236}">
                <a16:creationId xmlns:a16="http://schemas.microsoft.com/office/drawing/2014/main" id="{B894455A-63F9-3E07-A3CC-70E08099B1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1" b="21439"/>
          <a:stretch/>
        </p:blipFill>
        <p:spPr bwMode="auto">
          <a:xfrm>
            <a:off x="8553808" y="2034442"/>
            <a:ext cx="3250002" cy="185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048AF43C-C021-BBC5-40A3-ED59C355FCFF}"/>
              </a:ext>
            </a:extLst>
          </p:cNvPr>
          <p:cNvSpPr/>
          <p:nvPr/>
        </p:nvSpPr>
        <p:spPr>
          <a:xfrm>
            <a:off x="776378" y="4825042"/>
            <a:ext cx="2767484" cy="12929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500" dirty="0"/>
              <a:t>1. el tipo de receptor al cual se dirige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B701F24-5125-CEE3-2EFD-B1EEF4B860E3}"/>
              </a:ext>
            </a:extLst>
          </p:cNvPr>
          <p:cNvSpPr/>
          <p:nvPr/>
        </p:nvSpPr>
        <p:spPr>
          <a:xfrm>
            <a:off x="3978111" y="4823559"/>
            <a:ext cx="3426432" cy="12929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500" dirty="0"/>
              <a:t>2. los grados de cortesía adecuados a la situación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90C6E8F-3DA5-059E-5D8C-98FE9F19E169}"/>
              </a:ext>
            </a:extLst>
          </p:cNvPr>
          <p:cNvSpPr/>
          <p:nvPr/>
        </p:nvSpPr>
        <p:spPr>
          <a:xfrm>
            <a:off x="7719262" y="4823558"/>
            <a:ext cx="3140416" cy="12929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500" dirty="0"/>
              <a:t>3. el conocimiento que tiene de su interlocutor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4149129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45081" y="677297"/>
            <a:ext cx="11301837" cy="550340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algn="just"/>
            <a:r>
              <a:rPr lang="es-CL" sz="3000" b="1" u="sng" dirty="0"/>
              <a:t>Actos de habla directos:</a:t>
            </a:r>
            <a:r>
              <a:rPr lang="es-CL" sz="3000" dirty="0"/>
              <a:t> el emisor manifiesta su propósito a través de las palabras. En el caso en que una persona expresa por ejemplo: “Me muestra su cédula de identidad, por favor”, la intención es explícita y se ve reafirmada con el uso de la fórmula de cortesía. </a:t>
            </a:r>
          </a:p>
          <a:p>
            <a:pPr algn="just"/>
            <a:endParaRPr lang="en-US" sz="3000" dirty="0"/>
          </a:p>
          <a:p>
            <a:pPr algn="just"/>
            <a:r>
              <a:rPr lang="es-CL" sz="3000" b="1" u="sng" dirty="0"/>
              <a:t>Actos de habla indirectos:</a:t>
            </a:r>
            <a:r>
              <a:rPr lang="es-CL" sz="3000" dirty="0"/>
              <a:t> el emisor no expresa su propósito, pero son comprendidos a partir del conocimiento que el receptor tiene del contexto. Ejemplo, si una persona dijera: “¿Me puede decir qué día es hoy?” con la intención de conocer el tiempo exacto estamos frente a un acto indirecto, porque a ella no le interesa que esa persona sea capaz de indicarle qué día es, sino que desea saber qué día es hoy. El receptor podría responder simplemente “sí” y el emisor que solicitaba el día no concretaría su propósito. Lo más probable es que el receptor se sienta interpelado y se dé cuenta que le solicitan saber el día de hoy.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31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97789" y="487318"/>
            <a:ext cx="10058400" cy="737632"/>
          </a:xfrm>
        </p:spPr>
        <p:txBody>
          <a:bodyPr>
            <a:normAutofit/>
          </a:bodyPr>
          <a:lstStyle/>
          <a:p>
            <a:pPr algn="ctr"/>
            <a:r>
              <a:rPr lang="es-CL" sz="3200" b="1" u="sng" dirty="0"/>
              <a:t>Fines o propósitos de los actos de habla</a:t>
            </a:r>
            <a:endParaRPr lang="en-US" sz="3200" b="1" u="sng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3684" y="1456939"/>
            <a:ext cx="11490384" cy="4409023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CL" sz="3000" dirty="0"/>
              <a:t>De acuerdo a las intenciones o propósitos que tiene el emisor al producir un acto de habla, estos se clasifican de la siguiente manera: </a:t>
            </a:r>
          </a:p>
          <a:p>
            <a:pPr marL="0" indent="0" algn="just">
              <a:buNone/>
            </a:pPr>
            <a:endParaRPr lang="en-US" sz="3000" dirty="0"/>
          </a:p>
          <a:p>
            <a:pPr marL="514350" indent="-514350" algn="just">
              <a:buAutoNum type="arabicPeriod"/>
            </a:pPr>
            <a:r>
              <a:rPr lang="es-CL" sz="3000" b="1" u="sng" dirty="0"/>
              <a:t>Asertivo</a:t>
            </a:r>
            <a:r>
              <a:rPr lang="es-CL" sz="3000" b="1" dirty="0"/>
              <a:t>: </a:t>
            </a:r>
            <a:r>
              <a:rPr lang="es-CL" sz="3000" dirty="0"/>
              <a:t>el emisor afirma o niega algo sobre la realidad con la intención de que sea considerada como </a:t>
            </a:r>
            <a:r>
              <a:rPr lang="es-CL" sz="3000" i="1" dirty="0"/>
              <a:t>verdadera</a:t>
            </a:r>
            <a:r>
              <a:rPr lang="es-CL" sz="3000" dirty="0"/>
              <a:t>. </a:t>
            </a:r>
          </a:p>
          <a:p>
            <a:pPr marL="0" indent="0" algn="just">
              <a:buNone/>
            </a:pPr>
            <a:r>
              <a:rPr lang="es-CL" sz="3000" dirty="0"/>
              <a:t>Este tipo es muy común en la comunicación escrita y oral, en las noticias, relatos, declaraciones judiciales, e informes. </a:t>
            </a:r>
          </a:p>
          <a:p>
            <a:pPr marL="0" indent="0" algn="just">
              <a:buNone/>
            </a:pPr>
            <a:r>
              <a:rPr lang="es-CL" sz="3000" dirty="0"/>
              <a:t>Son actos asertivos </a:t>
            </a:r>
            <a:r>
              <a:rPr lang="es-CL" sz="3000" i="1" dirty="0"/>
              <a:t>afirmar, anunciar, predecir, insistir, explicar, exponer, o relatar: “el sábado va a llover, por lo que no voy a celebrar mi cumpleaños en el campo”</a:t>
            </a:r>
            <a:endParaRPr lang="en-US" sz="3000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544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9562" y="422695"/>
            <a:ext cx="11386868" cy="196780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CL" sz="3000" b="1" u="sng" dirty="0"/>
              <a:t>2. Directivo</a:t>
            </a:r>
            <a:r>
              <a:rPr lang="es-CL" sz="3000" b="1" dirty="0"/>
              <a:t>: </a:t>
            </a:r>
            <a:r>
              <a:rPr lang="es-CL" sz="3000" dirty="0"/>
              <a:t>el emisor pretende dirigir en cierto sentido la conducta de su receptor, desea que piense o haga determinada cosa o deje de hacer algo. </a:t>
            </a:r>
          </a:p>
          <a:p>
            <a:pPr marL="0" indent="0" algn="just">
              <a:buNone/>
            </a:pPr>
            <a:r>
              <a:rPr lang="es-CL" sz="3000" dirty="0"/>
              <a:t>A este tipo de actos corresponden las acciones como </a:t>
            </a:r>
            <a:r>
              <a:rPr lang="es-CL" sz="3000" i="1" dirty="0"/>
              <a:t>mandar, ordenar, exigir, preguntar, solicitar, pedir, encargar o rogar</a:t>
            </a:r>
            <a:r>
              <a:rPr lang="es-CL" sz="3000" dirty="0"/>
              <a:t>. </a:t>
            </a:r>
            <a:endParaRPr lang="en-US" sz="3000" dirty="0"/>
          </a:p>
          <a:p>
            <a:endParaRPr lang="en-US" dirty="0"/>
          </a:p>
        </p:txBody>
      </p:sp>
      <p:pic>
        <p:nvPicPr>
          <p:cNvPr id="4100" name="Picture 4" descr="Qué ternurita!: Winnie, el lindo perrito con los ojos del Gato con Botas —  RadioActiva 92.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684" y="3028544"/>
            <a:ext cx="4220482" cy="3014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lano Orgánico Personas Haciendo Preguntas Vector Ilustración. Ilustración  del Vector - Ilustración de marca, idea: 213530177">
            <a:extLst>
              <a:ext uri="{FF2B5EF4-FFF2-40B4-BE49-F238E27FC236}">
                <a16:creationId xmlns:a16="http://schemas.microsoft.com/office/drawing/2014/main" id="{827BEF59-565F-BFC9-2E80-B74C4DAF8E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" b="7619"/>
          <a:stretch/>
        </p:blipFill>
        <p:spPr bwMode="auto">
          <a:xfrm>
            <a:off x="7138534" y="3028544"/>
            <a:ext cx="3246437" cy="306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64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4671" y="405749"/>
            <a:ext cx="11507637" cy="197514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CL" sz="3300" b="1" u="sng" dirty="0"/>
              <a:t>3. Compromisorio</a:t>
            </a:r>
            <a:r>
              <a:rPr lang="es-CL" sz="3300" b="1" dirty="0"/>
              <a:t>: </a:t>
            </a:r>
            <a:r>
              <a:rPr lang="es-CL" sz="3300" dirty="0"/>
              <a:t>a través de estos, el emisor se compromete a hacer o dejar de hacer algo, asegura que se comportará de cierta manera. </a:t>
            </a:r>
          </a:p>
          <a:p>
            <a:pPr marL="0" indent="0" algn="just">
              <a:buNone/>
            </a:pPr>
            <a:r>
              <a:rPr lang="es-CL" sz="3300" dirty="0"/>
              <a:t>Este tipo es propio de acciones como </a:t>
            </a:r>
            <a:r>
              <a:rPr lang="es-CL" sz="3300" i="1" dirty="0"/>
              <a:t>jurar, prometer, ofrecer o apostar.</a:t>
            </a:r>
            <a:endParaRPr lang="en-US" sz="3300" i="1" dirty="0"/>
          </a:p>
          <a:p>
            <a:endParaRPr lang="en-US" dirty="0"/>
          </a:p>
        </p:txBody>
      </p:sp>
      <p:pic>
        <p:nvPicPr>
          <p:cNvPr id="5122" name="Picture 2" descr="Por qué a algunas personas les gusta apostar? | Explora | Univi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72" y="2710088"/>
            <a:ext cx="4161916" cy="276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lustración de Feliz Lindos Niños Niños Golpe De Puño y más Vectores Libres  de Derechos de Choque de guantes - Choque de guantes, Niño, Adulto - iStoc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775" y="2660784"/>
            <a:ext cx="3632653" cy="3632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424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7804" y="362309"/>
            <a:ext cx="11507638" cy="270006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buNone/>
            </a:pPr>
            <a:r>
              <a:rPr lang="es-CL" sz="2800" b="1" u="sng" dirty="0"/>
              <a:t>4. Declarativo:</a:t>
            </a:r>
            <a:r>
              <a:rPr lang="es-CL" sz="2800" dirty="0"/>
              <a:t> el emisor posee una condición de autoridad frente al receptor, que el otro admite y respeta. Mediante el uso de palabras se introduce un cambio en la situación. Este acto se vincula con las diversas costumbres de una sociedad. </a:t>
            </a:r>
          </a:p>
          <a:p>
            <a:pPr marL="0" indent="0" algn="just">
              <a:buNone/>
            </a:pPr>
            <a:r>
              <a:rPr lang="es-CL" sz="2800" dirty="0"/>
              <a:t>Los actos más típicos son </a:t>
            </a:r>
            <a:r>
              <a:rPr lang="es-CL" sz="2800" i="1" dirty="0"/>
              <a:t>bautizar, casar, condenar, absolver, contratar, o despedir.</a:t>
            </a:r>
            <a:endParaRPr lang="en-US" sz="2800" i="1" dirty="0"/>
          </a:p>
        </p:txBody>
      </p:sp>
      <p:pic>
        <p:nvPicPr>
          <p:cNvPr id="6148" name="Picture 4" descr="Despido Laboral Vectores Libres de Derechos - iStoc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165" y="3429000"/>
            <a:ext cx="3561296" cy="270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3D Humanos Hacer Una Declaración De Amor, De Rodillas Fotos, retratos,  imágenes y fotografía de archivo libres de derecho. Image 8248996">
            <a:extLst>
              <a:ext uri="{FF2B5EF4-FFF2-40B4-BE49-F238E27FC236}">
                <a16:creationId xmlns:a16="http://schemas.microsoft.com/office/drawing/2014/main" id="{38892B4C-4271-48E6-15D3-BD487F230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769" y="3429000"/>
            <a:ext cx="2700068" cy="270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510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7658" y="370998"/>
            <a:ext cx="11436409" cy="165621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CL" sz="3000" b="1" u="sng" dirty="0"/>
              <a:t>5. Expresivo:</a:t>
            </a:r>
            <a:r>
              <a:rPr lang="es-CL" sz="3000" b="1" dirty="0"/>
              <a:t> </a:t>
            </a:r>
            <a:r>
              <a:rPr lang="es-CL" sz="3000" dirty="0"/>
              <a:t>el emisor manifiesta sus sentimientos, emociones y actitudes frente a una persona o asunto. </a:t>
            </a:r>
          </a:p>
          <a:p>
            <a:pPr marL="0" indent="0" algn="just">
              <a:buNone/>
            </a:pPr>
            <a:r>
              <a:rPr lang="es-CL" sz="3000" dirty="0"/>
              <a:t>Ejemplos de este acto serían </a:t>
            </a:r>
            <a:r>
              <a:rPr lang="es-CL" sz="3000" i="1" dirty="0"/>
              <a:t>agradecer, felicitar, celebrar, condoler, lamentar, o congratular.</a:t>
            </a:r>
            <a:endParaRPr lang="en-US" sz="3000" i="1" dirty="0"/>
          </a:p>
          <a:p>
            <a:endParaRPr lang="en-US" dirty="0"/>
          </a:p>
        </p:txBody>
      </p:sp>
      <p:pic>
        <p:nvPicPr>
          <p:cNvPr id="7170" name="Picture 2" descr="FELICITACIONES ANIMADAS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239" y="3027871"/>
            <a:ext cx="5148404" cy="289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50 frases bonitas de fallecimiento para dar el pésame">
            <a:extLst>
              <a:ext uri="{FF2B5EF4-FFF2-40B4-BE49-F238E27FC236}">
                <a16:creationId xmlns:a16="http://schemas.microsoft.com/office/drawing/2014/main" id="{D0E6463C-E779-9F40-BF80-F82FFB61EC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8" t="21384" r="11594" b="12327"/>
          <a:stretch/>
        </p:blipFill>
        <p:spPr bwMode="auto">
          <a:xfrm>
            <a:off x="7073660" y="2804397"/>
            <a:ext cx="3640347" cy="311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3918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130</TotalTime>
  <Words>750</Words>
  <Application>Microsoft Office PowerPoint</Application>
  <PresentationFormat>Panorámica</PresentationFormat>
  <Paragraphs>38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ＭＳ Ｐゴシック</vt:lpstr>
      <vt:lpstr>Century Gothic</vt:lpstr>
      <vt:lpstr>Garamond</vt:lpstr>
      <vt:lpstr>Savon</vt:lpstr>
      <vt:lpstr>LA COMUNICACIÓN: ACTOS DE HABLA</vt:lpstr>
      <vt:lpstr>OBJETIVO</vt:lpstr>
      <vt:lpstr>Presentación de PowerPoint</vt:lpstr>
      <vt:lpstr>Presentación de PowerPoint</vt:lpstr>
      <vt:lpstr>Grado de explicitación</vt:lpstr>
      <vt:lpstr>Presentación de PowerPoint</vt:lpstr>
      <vt:lpstr>Fines o propósitos de los actos de habla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ACTOS DE HABLA</dc:title>
  <dc:creator>pde001</dc:creator>
  <cp:lastModifiedBy>Elizabeth Alexandra Muñoz Cañulef</cp:lastModifiedBy>
  <cp:revision>10</cp:revision>
  <dcterms:created xsi:type="dcterms:W3CDTF">2023-04-04T23:44:23Z</dcterms:created>
  <dcterms:modified xsi:type="dcterms:W3CDTF">2026-04-24T23:09:40Z</dcterms:modified>
</cp:coreProperties>
</file>