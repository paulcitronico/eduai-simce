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sldIdLst>
    <p:sldId id="256" r:id="rId2"/>
    <p:sldId id="266" r:id="rId3"/>
    <p:sldId id="259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8A581D-679F-4B50-A604-FA0762B86FE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D1C67-EA7A-48E9-AAE5-58922771E09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82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s-ES" altLang="es-CL"/>
              <a:t>https://pixabay.com/es/conocimiento-libro-la-colecci%C3%B3n-de-1052010/</a:t>
            </a:r>
          </a:p>
          <a:p>
            <a:r>
              <a:rPr lang="es-ES" altLang="es-CL"/>
              <a:t>https://pixabay.com/es/adulto-alfabeto-antigua-antiguos-2242164/</a:t>
            </a:r>
          </a:p>
          <a:p>
            <a:r>
              <a:rPr lang="es-ES" altLang="es-CL"/>
              <a:t>https://pixabay.com/es/libro-chica-lectura-educaci%C3%B3n-1524956/</a:t>
            </a:r>
          </a:p>
        </p:txBody>
      </p:sp>
      <p:sp>
        <p:nvSpPr>
          <p:cNvPr id="11268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2685F7-E9E0-4D96-91F6-4698BBF6E8F8}" type="slidenum">
              <a:rPr lang="es-ES" altLang="es-CL" sz="1200"/>
              <a:pPr/>
              <a:t>5</a:t>
            </a:fld>
            <a:endParaRPr lang="es-ES" altLang="es-CL" sz="1200"/>
          </a:p>
        </p:txBody>
      </p:sp>
    </p:spTree>
    <p:extLst>
      <p:ext uri="{BB962C8B-B14F-4D97-AF65-F5344CB8AC3E}">
        <p14:creationId xmlns:p14="http://schemas.microsoft.com/office/powerpoint/2010/main" val="900723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s-CL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B97B8FE8-701F-4EB5-BFBC-86AB2BD6390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0553938-882E-4F45-9A93-6BAE2AAAB9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86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B8FE8-701F-4EB5-BFBC-86AB2BD6390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3938-882E-4F45-9A93-6BAE2AAAB9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421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97B8FE8-701F-4EB5-BFBC-86AB2BD6390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F0553938-882E-4F45-9A93-6BAE2AAAB9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1009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B8FE8-701F-4EB5-BFBC-86AB2BD6390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3938-882E-4F45-9A93-6BAE2AAAB9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42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B8FE8-701F-4EB5-BFBC-86AB2BD6390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3938-882E-4F45-9A93-6BAE2AAAB9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99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B8FE8-701F-4EB5-BFBC-86AB2BD6390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3938-882E-4F45-9A93-6BAE2AAAB9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528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B8FE8-701F-4EB5-BFBC-86AB2BD6390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3938-882E-4F45-9A93-6BAE2AAAB9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9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B8FE8-701F-4EB5-BFBC-86AB2BD6390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F0553938-882E-4F45-9A93-6BAE2AAAB988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8769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B97B8FE8-701F-4EB5-BFBC-86AB2BD6390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F0553938-882E-4F45-9A93-6BAE2AAAB988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78110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B8FE8-701F-4EB5-BFBC-86AB2BD6390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3938-882E-4F45-9A93-6BAE2AAAB9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22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B8FE8-701F-4EB5-BFBC-86AB2BD6390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3938-882E-4F45-9A93-6BAE2AAAB9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29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s-C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97B8FE8-701F-4EB5-BFBC-86AB2BD6390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0553938-882E-4F45-9A93-6BAE2AAAB988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955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www.youtube.com/watch?v=rM4nZhhn3v8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Elementos%20de%20la%20Comunicaci&#243;n%20-%20Gabriella%20Troya%20(480p,%20h264).mp4" TargetMode="External"/><Relationship Id="rId4" Type="http://schemas.openxmlformats.org/officeDocument/2006/relationships/hyperlink" Target="Cerebro%20y%20lenguaje%20-%20Jes&#250;s%20C.%20Guill&#233;n%20(720p,%20h264).mp4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sz="4000" dirty="0"/>
              <a:t>LENGUAJE Y COMUNICACIÓN: </a:t>
            </a:r>
            <a:br>
              <a:rPr lang="es-CL" sz="4000" dirty="0"/>
            </a:br>
            <a:r>
              <a:rPr lang="es-CL" sz="4000" dirty="0"/>
              <a:t>LA COMUNICACIÓN</a:t>
            </a:r>
            <a:endParaRPr lang="en-US" sz="40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61706" y="4923602"/>
            <a:ext cx="9070848" cy="457201"/>
          </a:xfrm>
        </p:spPr>
        <p:txBody>
          <a:bodyPr>
            <a:normAutofit fontScale="85000" lnSpcReduction="20000"/>
          </a:bodyPr>
          <a:lstStyle/>
          <a:p>
            <a:r>
              <a:rPr lang="es-CL" dirty="0"/>
              <a:t>PRIMER Y SEGUNDO NIVEL EM – UNIDAD 1 – CLASE 1</a:t>
            </a:r>
          </a:p>
          <a:p>
            <a:r>
              <a:rPr lang="es-CL" dirty="0"/>
              <a:t>PROFESORA ELIZABETH MUÑOZ</a:t>
            </a:r>
            <a:endParaRPr lang="en-US" dirty="0"/>
          </a:p>
        </p:txBody>
      </p:sp>
      <p:pic>
        <p:nvPicPr>
          <p:cNvPr id="4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3152" y="0"/>
            <a:ext cx="1534160" cy="153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29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D5FEBDDD-E51C-CC6A-D0D3-486025DA2AA2}"/>
              </a:ext>
            </a:extLst>
          </p:cNvPr>
          <p:cNvSpPr txBox="1">
            <a:spLocks/>
          </p:cNvSpPr>
          <p:nvPr/>
        </p:nvSpPr>
        <p:spPr>
          <a:xfrm>
            <a:off x="705180" y="1317818"/>
            <a:ext cx="3979862" cy="17129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68580" tIns="34290" rIns="68580" bIns="3429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La asignatura de Lenguaje y Comunicación orienta su acción al desarrollo del lenguaje y sus habilidades.</a:t>
            </a:r>
            <a:endParaRPr lang="es-CL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6" name="Marcador de contenido 2">
            <a:extLst>
              <a:ext uri="{FF2B5EF4-FFF2-40B4-BE49-F238E27FC236}">
                <a16:creationId xmlns:a16="http://schemas.microsoft.com/office/drawing/2014/main" id="{5D19345E-2169-4F66-C46B-92D0280EF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080" y="709383"/>
            <a:ext cx="6239878" cy="5197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lIns="68580" tIns="34290" rIns="68580" bIns="34290"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6858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ts val="1000"/>
              </a:spcBef>
              <a:buClrTx/>
              <a:buSzPct val="125000"/>
              <a:buNone/>
              <a:defRPr/>
            </a:pPr>
            <a:r>
              <a:rPr lang="es-ES" altLang="es-CL" sz="2000" dirty="0">
                <a:latin typeface="Arial" panose="020B0604020202020204" pitchFamily="34" charset="0"/>
                <a:cs typeface="Arial" panose="020B0604020202020204" pitchFamily="34" charset="0"/>
              </a:rPr>
              <a:t>Lenguaje como Instrumento de comunicación</a:t>
            </a:r>
            <a:endParaRPr lang="es-CL" altLang="es-CL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BD9B6D6-B2CD-13C3-A801-696E15F1B0C1}"/>
              </a:ext>
            </a:extLst>
          </p:cNvPr>
          <p:cNvSpPr txBox="1">
            <a:spLocks/>
          </p:cNvSpPr>
          <p:nvPr/>
        </p:nvSpPr>
        <p:spPr>
          <a:xfrm>
            <a:off x="5806282" y="1515462"/>
            <a:ext cx="6132676" cy="11746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lIns="68580" tIns="34290" rIns="68580" bIns="3429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Sistema de representación de la realidad que permite llevar a cabo diversas operaciones intelectuales.</a:t>
            </a:r>
            <a:endParaRPr lang="es-CL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7A675462-4E3E-A4C1-6EAD-6AEC51EDDEF0}"/>
              </a:ext>
            </a:extLst>
          </p:cNvPr>
          <p:cNvSpPr txBox="1">
            <a:spLocks/>
          </p:cNvSpPr>
          <p:nvPr/>
        </p:nvSpPr>
        <p:spPr>
          <a:xfrm>
            <a:off x="5797934" y="2954354"/>
            <a:ext cx="6132676" cy="49215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lIns="68580" tIns="34290" rIns="68580" bIns="3429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Se aprende y desarrolla en la interacción social </a:t>
            </a:r>
            <a:endParaRPr lang="es-CL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9" name="Marcador de contenido 2">
            <a:extLst>
              <a:ext uri="{FF2B5EF4-FFF2-40B4-BE49-F238E27FC236}">
                <a16:creationId xmlns:a16="http://schemas.microsoft.com/office/drawing/2014/main" id="{0DC5C128-05B6-2520-2441-9F6418B24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6282" y="3852468"/>
            <a:ext cx="6132675" cy="8545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lIns="68580" tIns="34290" rIns="68580" bIns="34290"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6858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ts val="1000"/>
              </a:spcBef>
              <a:buClrTx/>
              <a:buSzPct val="125000"/>
              <a:buNone/>
              <a:defRPr/>
            </a:pPr>
            <a:r>
              <a:rPr lang="es-ES" altLang="es-CL" sz="2000" dirty="0">
                <a:latin typeface="Arial" panose="020B0604020202020204" pitchFamily="34" charset="0"/>
                <a:cs typeface="Arial" panose="020B0604020202020204" pitchFamily="34" charset="0"/>
              </a:rPr>
              <a:t>Uso de la lengua en sus contextos comunicativos habituales.</a:t>
            </a:r>
            <a:endParaRPr lang="es-CL" altLang="es-CL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00" name="Marcador de contenido 2">
            <a:extLst>
              <a:ext uri="{FF2B5EF4-FFF2-40B4-BE49-F238E27FC236}">
                <a16:creationId xmlns:a16="http://schemas.microsoft.com/office/drawing/2014/main" id="{3484654F-384B-DFFC-9982-228DA0272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6282" y="4850187"/>
            <a:ext cx="6124328" cy="8516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lIns="68580" tIns="34290" rIns="68580" bIns="34290"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6858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ts val="1000"/>
              </a:spcBef>
              <a:buClrTx/>
              <a:buSzPct val="125000"/>
              <a:buNone/>
              <a:defRPr/>
            </a:pPr>
            <a:r>
              <a:rPr lang="es-ES" altLang="es-CL" sz="2000" dirty="0">
                <a:latin typeface="Arial" panose="020B0604020202020204" pitchFamily="34" charset="0"/>
                <a:cs typeface="Arial" panose="020B0604020202020204" pitchFamily="34" charset="0"/>
              </a:rPr>
              <a:t>Adecuar el discurso a diferentes situaciones formales e informales.</a:t>
            </a:r>
            <a:endParaRPr lang="es-CL" altLang="es-CL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93E38190-1EBF-3601-4973-9BD595981325}"/>
              </a:ext>
            </a:extLst>
          </p:cNvPr>
          <p:cNvSpPr txBox="1">
            <a:spLocks/>
          </p:cNvSpPr>
          <p:nvPr/>
        </p:nvSpPr>
        <p:spPr>
          <a:xfrm>
            <a:off x="5806282" y="5808892"/>
            <a:ext cx="6179425" cy="67945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lIns="68580" tIns="34290" rIns="68580" bIns="3429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Ampliar, corregir y adecuar los saberes previos del lenguaje.</a:t>
            </a:r>
            <a:endParaRPr lang="es-CL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15653774-573E-4961-187C-23AA6A233A50}"/>
              </a:ext>
            </a:extLst>
          </p:cNvPr>
          <p:cNvSpPr/>
          <p:nvPr/>
        </p:nvSpPr>
        <p:spPr>
          <a:xfrm>
            <a:off x="4685042" y="1870493"/>
            <a:ext cx="1062038" cy="3635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L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8157C8FC-8680-FD2C-6812-B9CAE28483DF}"/>
              </a:ext>
            </a:extLst>
          </p:cNvPr>
          <p:cNvSpPr/>
          <p:nvPr/>
        </p:nvSpPr>
        <p:spPr>
          <a:xfrm rot="5400000">
            <a:off x="8684090" y="3516338"/>
            <a:ext cx="360362" cy="2587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L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E9774A79-10F2-9266-8D18-AA8B89493CB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368" y="441327"/>
            <a:ext cx="2467155" cy="709612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22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Fundamentos:</a:t>
            </a:r>
          </a:p>
        </p:txBody>
      </p:sp>
      <p:pic>
        <p:nvPicPr>
          <p:cNvPr id="9231" name="Imagen 1">
            <a:extLst>
              <a:ext uri="{FF2B5EF4-FFF2-40B4-BE49-F238E27FC236}">
                <a16:creationId xmlns:a16="http://schemas.microsoft.com/office/drawing/2014/main" id="{07C96663-49F3-A258-B4AA-AAA86976F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546" y="3825901"/>
            <a:ext cx="2859088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F2383925-6A1B-B396-7264-B8CE66E93823}"/>
              </a:ext>
            </a:extLst>
          </p:cNvPr>
          <p:cNvSpPr/>
          <p:nvPr/>
        </p:nvSpPr>
        <p:spPr>
          <a:xfrm rot="5400000">
            <a:off x="8716964" y="2670176"/>
            <a:ext cx="268287" cy="2587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L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467F3062-FBBA-D07A-AE96-5CEEC2FD94C7}"/>
              </a:ext>
            </a:extLst>
          </p:cNvPr>
          <p:cNvSpPr/>
          <p:nvPr/>
        </p:nvSpPr>
        <p:spPr>
          <a:xfrm rot="5400000">
            <a:off x="8634848" y="1251401"/>
            <a:ext cx="268287" cy="2587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L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163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196" grpId="0" animBg="1"/>
      <p:bldP spid="7" grpId="0" animBg="1"/>
      <p:bldP spid="8" grpId="0" animBg="1"/>
      <p:bldP spid="8199" grpId="0" animBg="1"/>
      <p:bldP spid="820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2442782" y="2164855"/>
            <a:ext cx="3409406" cy="325265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b="1" dirty="0">
                <a:solidFill>
                  <a:schemeClr val="tx1"/>
                </a:solidFill>
              </a:rPr>
              <a:t>COMUNICACIÓN ORAL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6291685" y="2164854"/>
            <a:ext cx="3544387" cy="325265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b="1" dirty="0">
                <a:solidFill>
                  <a:schemeClr val="tx1"/>
                </a:solidFill>
              </a:rPr>
              <a:t> COMUNICACIÓN ESCRITA</a:t>
            </a:r>
            <a:endParaRPr lang="en-US" sz="2000" b="1" dirty="0">
              <a:solidFill>
                <a:schemeClr val="tx1"/>
              </a:solidFill>
            </a:endParaRPr>
          </a:p>
        </p:txBody>
      </p:sp>
      <p:pic>
        <p:nvPicPr>
          <p:cNvPr id="3076" name="Picture 4" descr="Email o correo electrónico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3" r="15087"/>
          <a:stretch/>
        </p:blipFill>
        <p:spPr bwMode="auto">
          <a:xfrm>
            <a:off x="9145632" y="462749"/>
            <a:ext cx="2259874" cy="2216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ente hablando por teléfono, diseño plano de símbolo de llamada telefónica,  ilustración vectorial. | Vector Prem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56" y="581927"/>
            <a:ext cx="2783568" cy="1391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Self Camera Shot, la app para tomar fotos con un silbido o con un chasquido  de dedos - G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56" y="4747336"/>
            <a:ext cx="2120155" cy="1722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Libro electrónico vs Libro de papel ¿Cuál es mejor?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7" r="4200"/>
          <a:stretch/>
        </p:blipFill>
        <p:spPr bwMode="auto">
          <a:xfrm rot="19102908">
            <a:off x="9294780" y="4605462"/>
            <a:ext cx="2568291" cy="1489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arta De Dibujos Animados PNG Imágenes Transparentes - Pngtree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22" t="17789" r="9134" b="10704"/>
          <a:stretch/>
        </p:blipFill>
        <p:spPr bwMode="auto">
          <a:xfrm>
            <a:off x="5044926" y="5024981"/>
            <a:ext cx="2103120" cy="1871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Niños cantando ilustración, cantando dibujos animados ilustración de  canción, cantando material de los niños, niño, micrófono png | PNGEg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50" y="2679678"/>
            <a:ext cx="1891524" cy="175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Conversación Amistosa, Reunión De Amigos Stock de ilustración - Ilustración  de gente, humano: 170094421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99" b="18831"/>
          <a:stretch/>
        </p:blipFill>
        <p:spPr bwMode="auto">
          <a:xfrm>
            <a:off x="4372343" y="581927"/>
            <a:ext cx="3034297" cy="1497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63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551866" y="841851"/>
            <a:ext cx="5645150" cy="7302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ES_tradnl" dirty="0">
                <a:solidFill>
                  <a:schemeClr val="tx1"/>
                </a:solidFill>
                <a:latin typeface="Arial" charset="0"/>
              </a:rPr>
              <a:t>¿Qué es comunicar?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2648" y="1957388"/>
            <a:ext cx="11036808" cy="813244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  <a:defRPr/>
            </a:pPr>
            <a:r>
              <a:rPr lang="es-ES_tradnl" sz="2200" b="1" dirty="0">
                <a:solidFill>
                  <a:schemeClr val="tx1"/>
                </a:solidFill>
                <a:latin typeface="Arial" charset="0"/>
              </a:rPr>
              <a:t>Es un proceso </a:t>
            </a:r>
            <a:r>
              <a:rPr lang="es-ES_tradnl" sz="2200" b="1" u="sng" dirty="0">
                <a:solidFill>
                  <a:schemeClr val="tx1"/>
                </a:solidFill>
                <a:latin typeface="Arial" charset="0"/>
              </a:rPr>
              <a:t>intencionado</a:t>
            </a:r>
            <a:r>
              <a:rPr lang="es-ES_tradnl" sz="2200" b="1" dirty="0">
                <a:solidFill>
                  <a:schemeClr val="tx1"/>
                </a:solidFill>
                <a:latin typeface="Arial" charset="0"/>
              </a:rPr>
              <a:t> para establecer interrelaciones entre las personas y expresar ideas, sentimientos, información, etc.</a:t>
            </a:r>
          </a:p>
          <a:p>
            <a:pPr marL="0" indent="0" algn="ctr">
              <a:buNone/>
              <a:defRPr/>
            </a:pPr>
            <a:endParaRPr lang="es-ES_tradnl" b="1" dirty="0">
              <a:solidFill>
                <a:srgbClr val="FFCC00"/>
              </a:solidFill>
              <a:latin typeface="Arial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209800" y="5234814"/>
            <a:ext cx="7772400" cy="81324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None/>
              <a:defRPr/>
            </a:pPr>
            <a:r>
              <a:rPr lang="es-ES_tradnl" sz="2200" b="1" dirty="0">
                <a:effectLst/>
                <a:latin typeface="Arial" charset="0"/>
              </a:rPr>
              <a:t>Para ello, se utiliza el lenguaje verbal (hablado o escrito) y no verbal (gestual, icónico, proxémico, etc.)</a:t>
            </a:r>
          </a:p>
        </p:txBody>
      </p:sp>
      <p:pic>
        <p:nvPicPr>
          <p:cNvPr id="922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296" y="3049302"/>
            <a:ext cx="253365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7421" y="3231579"/>
            <a:ext cx="2468562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989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7171" grpId="0" build="p" autoUpdateAnimBg="0"/>
      <p:bldP spid="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25 Elipse"/>
          <p:cNvSpPr/>
          <p:nvPr/>
        </p:nvSpPr>
        <p:spPr>
          <a:xfrm>
            <a:off x="3667126" y="1928813"/>
            <a:ext cx="4786313" cy="2500312"/>
          </a:xfrm>
          <a:prstGeom prst="ellipse">
            <a:avLst/>
          </a:prstGeom>
          <a:solidFill>
            <a:srgbClr val="FF9933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2" name="Rectangle 4"/>
          <p:cNvSpPr txBox="1">
            <a:spLocks noChangeArrowheads="1"/>
          </p:cNvSpPr>
          <p:nvPr/>
        </p:nvSpPr>
        <p:spPr bwMode="auto">
          <a:xfrm>
            <a:off x="3144839" y="954088"/>
            <a:ext cx="5761037" cy="46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es-ES" sz="3200" b="1" kern="0" dirty="0">
                <a:latin typeface="+mj-lt"/>
              </a:rPr>
              <a:t>CONTEXTO</a:t>
            </a:r>
          </a:p>
        </p:txBody>
      </p:sp>
      <p:sp>
        <p:nvSpPr>
          <p:cNvPr id="17" name="Text Box 43"/>
          <p:cNvSpPr txBox="1">
            <a:spLocks noChangeArrowheads="1"/>
          </p:cNvSpPr>
          <p:nvPr/>
        </p:nvSpPr>
        <p:spPr bwMode="auto">
          <a:xfrm>
            <a:off x="1774825" y="2865439"/>
            <a:ext cx="1639888" cy="120032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s-ES" b="1" dirty="0">
                <a:latin typeface="Arial" pitchFamily="34" charset="0"/>
              </a:rPr>
              <a:t>Emisor </a:t>
            </a:r>
          </a:p>
          <a:p>
            <a:pPr algn="ctr">
              <a:defRPr/>
            </a:pPr>
            <a:r>
              <a:rPr lang="es-CL" b="1" dirty="0">
                <a:latin typeface="Arial" pitchFamily="34" charset="0"/>
              </a:rPr>
              <a:t>codifica y envía un mensaje</a:t>
            </a:r>
            <a:endParaRPr lang="es-ES" b="1" dirty="0">
              <a:latin typeface="Arial" pitchFamily="34" charset="0"/>
            </a:endParaRPr>
          </a:p>
        </p:txBody>
      </p:sp>
      <p:sp>
        <p:nvSpPr>
          <p:cNvPr id="18" name="Text Box 44"/>
          <p:cNvSpPr txBox="1">
            <a:spLocks noChangeArrowheads="1"/>
          </p:cNvSpPr>
          <p:nvPr/>
        </p:nvSpPr>
        <p:spPr bwMode="auto">
          <a:xfrm>
            <a:off x="8748714" y="2852739"/>
            <a:ext cx="1811337" cy="120032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s-ES" b="1" dirty="0">
                <a:latin typeface="Arial" pitchFamily="34" charset="0"/>
              </a:rPr>
              <a:t>Receptor</a:t>
            </a:r>
          </a:p>
          <a:p>
            <a:pPr algn="ctr">
              <a:defRPr/>
            </a:pPr>
            <a:r>
              <a:rPr lang="es-CL" b="1" dirty="0">
                <a:latin typeface="Arial" pitchFamily="34" charset="0"/>
              </a:rPr>
              <a:t>recibe y decodifica el mensaje</a:t>
            </a:r>
            <a:r>
              <a:rPr lang="es-ES" b="1" dirty="0">
                <a:latin typeface="Arial" pitchFamily="34" charset="0"/>
              </a:rPr>
              <a:t> </a:t>
            </a:r>
            <a:endParaRPr lang="es-ES" dirty="0">
              <a:latin typeface="Arial" pitchFamily="34" charset="0"/>
            </a:endParaRPr>
          </a:p>
        </p:txBody>
      </p:sp>
      <p:sp>
        <p:nvSpPr>
          <p:cNvPr id="20" name="Text Box 45"/>
          <p:cNvSpPr txBox="1">
            <a:spLocks noChangeArrowheads="1"/>
          </p:cNvSpPr>
          <p:nvPr/>
        </p:nvSpPr>
        <p:spPr bwMode="auto">
          <a:xfrm>
            <a:off x="5106989" y="1624013"/>
            <a:ext cx="2035175" cy="1016000"/>
          </a:xfrm>
          <a:prstGeom prst="rect">
            <a:avLst/>
          </a:prstGeom>
          <a:solidFill>
            <a:srgbClr val="E35757">
              <a:alpha val="8509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s-ES" altLang="es-CL" sz="1500" b="1">
                <a:latin typeface="Arial" panose="020B0604020202020204" pitchFamily="34" charset="0"/>
                <a:ea typeface="MS PGothic" panose="020B0600070205080204" pitchFamily="34" charset="-128"/>
              </a:rPr>
              <a:t>Canal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s-CL" altLang="es-CL" sz="1500">
                <a:latin typeface="Arial" panose="020B0604020202020204" pitchFamily="34" charset="0"/>
                <a:ea typeface="MS PGothic" panose="020B0600070205080204" pitchFamily="34" charset="-128"/>
              </a:rPr>
              <a:t>medio utilizado para hacer llegar el mensaje</a:t>
            </a:r>
            <a:endParaRPr kumimoji="0" lang="es-ES" altLang="es-CL" sz="15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1" name="Text Box 46"/>
          <p:cNvSpPr txBox="1">
            <a:spLocks noChangeArrowheads="1"/>
          </p:cNvSpPr>
          <p:nvPr/>
        </p:nvSpPr>
        <p:spPr bwMode="auto">
          <a:xfrm>
            <a:off x="5364164" y="2833689"/>
            <a:ext cx="1582737" cy="1246187"/>
          </a:xfrm>
          <a:prstGeom prst="rect">
            <a:avLst/>
          </a:prstGeom>
          <a:solidFill>
            <a:srgbClr val="E35757">
              <a:alpha val="89803"/>
            </a:srgbClr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1500" dirty="0">
                <a:latin typeface="+mj-lt"/>
              </a:rPr>
              <a:t>Mensaje</a:t>
            </a:r>
          </a:p>
          <a:p>
            <a:pPr algn="ctr">
              <a:defRPr/>
            </a:pPr>
            <a:r>
              <a:rPr lang="es-ES" sz="1500" dirty="0">
                <a:latin typeface="Arial" pitchFamily="34" charset="0"/>
                <a:cs typeface="Arial" pitchFamily="34" charset="0"/>
              </a:rPr>
              <a:t>(Texto literario, información, sentimientos, órdenes, etc.)</a:t>
            </a:r>
          </a:p>
        </p:txBody>
      </p:sp>
      <p:sp>
        <p:nvSpPr>
          <p:cNvPr id="10249" name="AutoShape 22"/>
          <p:cNvSpPr>
            <a:spLocks noChangeAspect="1" noChangeArrowheads="1" noTextEdit="1"/>
          </p:cNvSpPr>
          <p:nvPr/>
        </p:nvSpPr>
        <p:spPr bwMode="auto">
          <a:xfrm>
            <a:off x="7596188" y="5846764"/>
            <a:ext cx="4356100" cy="202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Rectangle 4"/>
          <p:cNvSpPr txBox="1">
            <a:spLocks noChangeArrowheads="1"/>
          </p:cNvSpPr>
          <p:nvPr/>
        </p:nvSpPr>
        <p:spPr bwMode="auto">
          <a:xfrm>
            <a:off x="3257550" y="5768976"/>
            <a:ext cx="5761038" cy="936625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es-CL" sz="2000" kern="0" dirty="0">
                <a:latin typeface="+mj-lt"/>
              </a:rPr>
              <a:t>Contexto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es-CL" sz="2000" kern="0" dirty="0">
                <a:latin typeface="Arial" pitchFamily="34" charset="0"/>
                <a:cs typeface="Arial" pitchFamily="34" charset="0"/>
              </a:rPr>
              <a:t>condiciones sociales, humanas, etc. que posibilitan la comunicación.</a:t>
            </a:r>
          </a:p>
        </p:txBody>
      </p:sp>
      <p:sp>
        <p:nvSpPr>
          <p:cNvPr id="30" name="29 Flecha curvada hacia abajo"/>
          <p:cNvSpPr/>
          <p:nvPr/>
        </p:nvSpPr>
        <p:spPr>
          <a:xfrm rot="8331427">
            <a:off x="8480426" y="4992688"/>
            <a:ext cx="1851025" cy="774700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33" name="32 Flecha curvada hacia abajo"/>
          <p:cNvSpPr/>
          <p:nvPr/>
        </p:nvSpPr>
        <p:spPr>
          <a:xfrm rot="13101222">
            <a:off x="2132014" y="4992688"/>
            <a:ext cx="1946275" cy="766762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36" name="35 Flecha curvada hacia abajo"/>
          <p:cNvSpPr/>
          <p:nvPr/>
        </p:nvSpPr>
        <p:spPr>
          <a:xfrm rot="2793930">
            <a:off x="8070057" y="1723232"/>
            <a:ext cx="1849437" cy="774700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37" name="36 Flecha curvada hacia abajo"/>
          <p:cNvSpPr/>
          <p:nvPr/>
        </p:nvSpPr>
        <p:spPr>
          <a:xfrm rot="18819177">
            <a:off x="2183607" y="1350170"/>
            <a:ext cx="1946275" cy="766762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0259" name="38 CuadroTexto"/>
          <p:cNvSpPr txBox="1">
            <a:spLocks noChangeArrowheads="1"/>
          </p:cNvSpPr>
          <p:nvPr/>
        </p:nvSpPr>
        <p:spPr bwMode="auto">
          <a:xfrm>
            <a:off x="404322" y="392473"/>
            <a:ext cx="2740517" cy="83099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s-CL" altLang="es-CL" sz="2400" b="1" dirty="0">
                <a:latin typeface="Arial" panose="020B0604020202020204" pitchFamily="34" charset="0"/>
                <a:ea typeface="MS PGothic" panose="020B0600070205080204" pitchFamily="34" charset="-128"/>
              </a:rPr>
              <a:t>Factores de la comunicación</a:t>
            </a:r>
          </a:p>
        </p:txBody>
      </p:sp>
      <p:sp>
        <p:nvSpPr>
          <p:cNvPr id="19" name="Text Box 45"/>
          <p:cNvSpPr txBox="1">
            <a:spLocks noChangeArrowheads="1"/>
          </p:cNvSpPr>
          <p:nvPr/>
        </p:nvSpPr>
        <p:spPr bwMode="auto">
          <a:xfrm>
            <a:off x="5180014" y="4284663"/>
            <a:ext cx="2035175" cy="1014412"/>
          </a:xfrm>
          <a:prstGeom prst="rect">
            <a:avLst/>
          </a:prstGeom>
          <a:solidFill>
            <a:srgbClr val="E35757">
              <a:alpha val="8509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s-ES" altLang="es-CL" sz="1500" b="1">
                <a:latin typeface="Arial" panose="020B0604020202020204" pitchFamily="34" charset="0"/>
                <a:ea typeface="MS PGothic" panose="020B0600070205080204" pitchFamily="34" charset="-128"/>
              </a:rPr>
              <a:t>Código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s-CL" altLang="es-CL" sz="1500" b="1">
                <a:latin typeface="Arial" panose="020B0604020202020204" pitchFamily="34" charset="0"/>
                <a:ea typeface="MS PGothic" panose="020B0600070205080204" pitchFamily="34" charset="-128"/>
              </a:rPr>
              <a:t>lenguaje utilizado para «armar» el mensaje</a:t>
            </a:r>
            <a:endParaRPr kumimoji="0" lang="es-ES" altLang="es-CL" sz="1500" b="1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2" name="21 Rectángulo"/>
          <p:cNvSpPr/>
          <p:nvPr/>
        </p:nvSpPr>
        <p:spPr>
          <a:xfrm>
            <a:off x="7948613" y="335483"/>
            <a:ext cx="4071556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s-CL" sz="2000" dirty="0">
                <a:latin typeface="Arial" panose="020B0604020202020204" pitchFamily="34" charset="0"/>
                <a:cs typeface="Arial" panose="020B0604020202020204" pitchFamily="34" charset="0"/>
              </a:rPr>
              <a:t>En todo proceso de comunicación intervienen los siguientes factores</a:t>
            </a:r>
          </a:p>
        </p:txBody>
      </p:sp>
    </p:spTree>
    <p:extLst>
      <p:ext uri="{BB962C8B-B14F-4D97-AF65-F5344CB8AC3E}">
        <p14:creationId xmlns:p14="http://schemas.microsoft.com/office/powerpoint/2010/main" val="20088753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7" grpId="0" animBg="1"/>
      <p:bldP spid="20" grpId="0" animBg="1"/>
      <p:bldP spid="21" grpId="0" animBg="1"/>
      <p:bldP spid="30" grpId="0" animBg="1"/>
      <p:bldP spid="33" grpId="0" animBg="1"/>
      <p:bldP spid="36" grpId="0" animBg="1"/>
      <p:bldP spid="37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AutoShape 9" descr="Resultado de imagen para mujer hablando"/>
          <p:cNvSpPr>
            <a:spLocks noChangeAspect="1" noChangeArrowheads="1"/>
          </p:cNvSpPr>
          <p:nvPr/>
        </p:nvSpPr>
        <p:spPr bwMode="auto">
          <a:xfrm>
            <a:off x="1692275" y="-1825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s-CL" altLang="es-CL" sz="2400">
              <a:latin typeface="Times New Roman" panose="02020603050405020304" pitchFamily="18" charset="0"/>
            </a:endParaRPr>
          </a:p>
        </p:txBody>
      </p:sp>
      <p:pic>
        <p:nvPicPr>
          <p:cNvPr id="12292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" t="2452" r="575" b="2202"/>
          <a:stretch>
            <a:fillRect/>
          </a:stretch>
        </p:blipFill>
        <p:spPr bwMode="auto">
          <a:xfrm>
            <a:off x="1692276" y="538163"/>
            <a:ext cx="7954963" cy="590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060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320040" y="246063"/>
            <a:ext cx="11649455" cy="76944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_tradnl" sz="2200" b="1" dirty="0">
                <a:latin typeface="Arial" charset="0"/>
              </a:rPr>
              <a:t>Los roles de emisor y receptor se intercambian permanentemente. Por ejemplo en un diálogo:</a:t>
            </a:r>
          </a:p>
        </p:txBody>
      </p:sp>
      <p:sp>
        <p:nvSpPr>
          <p:cNvPr id="13316" name="AutoShape 9" descr="Resultado de imagen para mujer hablando"/>
          <p:cNvSpPr>
            <a:spLocks noChangeAspect="1" noChangeArrowheads="1"/>
          </p:cNvSpPr>
          <p:nvPr/>
        </p:nvSpPr>
        <p:spPr bwMode="auto">
          <a:xfrm>
            <a:off x="1692275" y="-1825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s-CL" altLang="es-CL" sz="2400">
              <a:latin typeface="Times New Roman" panose="02020603050405020304" pitchFamily="18" charset="0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786188" y="1484314"/>
            <a:ext cx="3816350" cy="460375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_tradnl" b="1" dirty="0">
                <a:solidFill>
                  <a:srgbClr val="C00000"/>
                </a:solidFill>
                <a:latin typeface="Arial" charset="0"/>
              </a:rPr>
              <a:t>¿Vas mañana a la fiesta?</a:t>
            </a:r>
          </a:p>
        </p:txBody>
      </p:sp>
      <p:pic>
        <p:nvPicPr>
          <p:cNvPr id="8197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425" y="1125538"/>
            <a:ext cx="2268538" cy="2036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807846" y="3102746"/>
            <a:ext cx="1884363" cy="461963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s-ES_tradnl" altLang="es-CL" sz="2400" b="1">
                <a:latin typeface="Arial" panose="020B0604020202020204" pitchFamily="34" charset="0"/>
              </a:rPr>
              <a:t>Emisor</a:t>
            </a:r>
          </a:p>
        </p:txBody>
      </p:sp>
      <p:pic>
        <p:nvPicPr>
          <p:cNvPr id="819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776"/>
          <a:stretch>
            <a:fillRect/>
          </a:stretch>
        </p:blipFill>
        <p:spPr bwMode="auto">
          <a:xfrm>
            <a:off x="1634332" y="1095332"/>
            <a:ext cx="2081213" cy="202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0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27" t="-9489" r="1122" b="28271"/>
          <a:stretch>
            <a:fillRect/>
          </a:stretch>
        </p:blipFill>
        <p:spPr bwMode="auto">
          <a:xfrm>
            <a:off x="7399339" y="3914776"/>
            <a:ext cx="2447925" cy="284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4800601" y="4724401"/>
            <a:ext cx="2303463" cy="461963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_tradnl" b="1" dirty="0">
                <a:solidFill>
                  <a:srgbClr val="C00000"/>
                </a:solidFill>
                <a:latin typeface="Arial" charset="0"/>
              </a:rPr>
              <a:t>¡Sí, voy!</a:t>
            </a: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7891463" y="6300789"/>
            <a:ext cx="1884362" cy="46037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s-ES_tradnl" altLang="es-CL" sz="2400" b="1" dirty="0">
                <a:latin typeface="Arial" panose="020B0604020202020204" pitchFamily="34" charset="0"/>
              </a:rPr>
              <a:t>Emisor</a:t>
            </a:r>
          </a:p>
        </p:txBody>
      </p:sp>
      <p:pic>
        <p:nvPicPr>
          <p:cNvPr id="8203" name="Picture 1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74" t="-1653" r="29834" b="30873"/>
          <a:stretch>
            <a:fillRect/>
          </a:stretch>
        </p:blipFill>
        <p:spPr bwMode="auto">
          <a:xfrm>
            <a:off x="1731963" y="4013200"/>
            <a:ext cx="2392362" cy="206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1979613" y="6078538"/>
            <a:ext cx="1884362" cy="46196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s-ES_tradnl" altLang="es-CL" sz="2400" b="1" dirty="0">
                <a:latin typeface="Arial" panose="020B0604020202020204" pitchFamily="34" charset="0"/>
              </a:rPr>
              <a:t>Receptor</a:t>
            </a:r>
          </a:p>
        </p:txBody>
      </p:sp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8621713" y="2914651"/>
            <a:ext cx="1885950" cy="461963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s-ES_tradnl" altLang="es-CL" sz="2400" b="1">
                <a:latin typeface="Arial" panose="020B0604020202020204" pitchFamily="34" charset="0"/>
              </a:rPr>
              <a:t>Receptor</a:t>
            </a:r>
          </a:p>
        </p:txBody>
      </p:sp>
      <p:sp>
        <p:nvSpPr>
          <p:cNvPr id="13327" name="1 Flecha derecha"/>
          <p:cNvSpPr>
            <a:spLocks noChangeArrowheads="1"/>
          </p:cNvSpPr>
          <p:nvPr/>
        </p:nvSpPr>
        <p:spPr bwMode="auto">
          <a:xfrm>
            <a:off x="4224338" y="1936750"/>
            <a:ext cx="3167062" cy="484188"/>
          </a:xfrm>
          <a:prstGeom prst="rightArrow">
            <a:avLst>
              <a:gd name="adj1" fmla="val 50000"/>
              <a:gd name="adj2" fmla="val 50026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s-CL" altLang="es-CL" sz="2400">
              <a:latin typeface="Times New Roman" panose="02020603050405020304" pitchFamily="18" charset="0"/>
            </a:endParaRPr>
          </a:p>
        </p:txBody>
      </p:sp>
      <p:sp>
        <p:nvSpPr>
          <p:cNvPr id="13328" name="14 Flecha derecha"/>
          <p:cNvSpPr>
            <a:spLocks noChangeArrowheads="1"/>
          </p:cNvSpPr>
          <p:nvPr/>
        </p:nvSpPr>
        <p:spPr bwMode="auto">
          <a:xfrm rot="10800000">
            <a:off x="4721226" y="5200650"/>
            <a:ext cx="2130425" cy="484188"/>
          </a:xfrm>
          <a:prstGeom prst="rightArrow">
            <a:avLst>
              <a:gd name="adj1" fmla="val 50000"/>
              <a:gd name="adj2" fmla="val 50050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s-CL" altLang="es-CL" sz="2400">
              <a:latin typeface="Times New Roman" panose="02020603050405020304" pitchFamily="18" charset="0"/>
            </a:endParaRPr>
          </a:p>
        </p:txBody>
      </p:sp>
      <p:sp>
        <p:nvSpPr>
          <p:cNvPr id="13329" name="15 Flecha derecha"/>
          <p:cNvSpPr>
            <a:spLocks noChangeArrowheads="1"/>
          </p:cNvSpPr>
          <p:nvPr/>
        </p:nvSpPr>
        <p:spPr bwMode="auto">
          <a:xfrm rot="5400000">
            <a:off x="7788276" y="3429001"/>
            <a:ext cx="811212" cy="484187"/>
          </a:xfrm>
          <a:prstGeom prst="rightArrow">
            <a:avLst>
              <a:gd name="adj1" fmla="val 50000"/>
              <a:gd name="adj2" fmla="val 4999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s-CL" altLang="es-CL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4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animBg="1" autoUpdateAnimBg="0"/>
      <p:bldP spid="9" grpId="0" animBg="1"/>
      <p:bldP spid="11" grpId="0" animBg="1" autoUpdateAnimBg="0"/>
      <p:bldP spid="17" grpId="0" animBg="1" autoUpdateAnimBg="0"/>
      <p:bldP spid="18" grpId="0" animBg="1" autoUpdateAnimBg="0"/>
      <p:bldP spid="22" grpId="0" animBg="1" autoUpdateAnimBg="0"/>
      <p:bldP spid="23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4"/>
          <p:cNvSpPr txBox="1">
            <a:spLocks noChangeArrowheads="1"/>
          </p:cNvSpPr>
          <p:nvPr/>
        </p:nvSpPr>
        <p:spPr bwMode="auto">
          <a:xfrm>
            <a:off x="1716089" y="1247776"/>
            <a:ext cx="8796337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s-ES" altLang="es-CL" sz="2400" b="1" dirty="0">
                <a:latin typeface="Arial" panose="020B0604020202020204" pitchFamily="34" charset="0"/>
              </a:rPr>
              <a:t>a) Carlos le declaró su amor a Carolina, el lunes 7 de marzo a las 10 de la mañana en el estacionamiento del edificio.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s-ES" altLang="es-CL" sz="2400" b="1" dirty="0">
                <a:latin typeface="Arial" panose="020B0604020202020204" pitchFamily="34" charset="0"/>
              </a:rPr>
              <a:t>Emisor: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s-ES" altLang="es-CL" sz="2400" b="1" dirty="0">
                <a:latin typeface="Arial" panose="020B0604020202020204" pitchFamily="34" charset="0"/>
              </a:rPr>
              <a:t>Receptor: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s-ES" altLang="es-CL" sz="2400" b="1" dirty="0">
                <a:latin typeface="Arial" panose="020B0604020202020204" pitchFamily="34" charset="0"/>
              </a:rPr>
              <a:t>Mensaje: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s-ES" altLang="es-CL" sz="2400" b="1" dirty="0">
                <a:latin typeface="Arial" panose="020B0604020202020204" pitchFamily="34" charset="0"/>
              </a:rPr>
              <a:t>Código: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s-ES" altLang="es-CL" sz="2400" b="1" dirty="0">
                <a:latin typeface="Arial" panose="020B0604020202020204" pitchFamily="34" charset="0"/>
              </a:rPr>
              <a:t>Canal: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s-ES" altLang="es-CL" sz="2400" b="1" dirty="0">
                <a:latin typeface="Arial" panose="020B0604020202020204" pitchFamily="34" charset="0"/>
              </a:rPr>
              <a:t>Contexto:</a:t>
            </a:r>
          </a:p>
        </p:txBody>
      </p:sp>
      <p:sp>
        <p:nvSpPr>
          <p:cNvPr id="14340" name="AutoShape 9" descr="Resultado de imagen para mujer hablando"/>
          <p:cNvSpPr>
            <a:spLocks noChangeAspect="1" noChangeArrowheads="1"/>
          </p:cNvSpPr>
          <p:nvPr/>
        </p:nvSpPr>
        <p:spPr bwMode="auto">
          <a:xfrm>
            <a:off x="1692275" y="-1825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s-CL" altLang="es-CL" sz="2400">
              <a:latin typeface="Times New Roman" panose="02020603050405020304" pitchFamily="18" charset="0"/>
            </a:endParaRPr>
          </a:p>
        </p:txBody>
      </p:sp>
      <p:pic>
        <p:nvPicPr>
          <p:cNvPr id="1434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926" y="2439988"/>
            <a:ext cx="178752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362325" y="2633663"/>
            <a:ext cx="1487488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_tradnl" sz="1800" b="1" dirty="0">
                <a:latin typeface="Arial" charset="0"/>
              </a:rPr>
              <a:t>Carlos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363913" y="3141663"/>
            <a:ext cx="14859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_tradnl" sz="1800" b="1" dirty="0">
                <a:latin typeface="Arial" charset="0"/>
              </a:rPr>
              <a:t>Carolina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327400" y="3702050"/>
            <a:ext cx="3455988" cy="3698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_tradnl" sz="1800" b="1" dirty="0">
                <a:latin typeface="Arial" charset="0"/>
              </a:rPr>
              <a:t>La declaración de amor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362325" y="4257675"/>
            <a:ext cx="1487488" cy="3698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_tradnl" sz="1800" b="1" dirty="0">
                <a:latin typeface="Arial" charset="0"/>
              </a:rPr>
              <a:t>Castellano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362325" y="4800600"/>
            <a:ext cx="338455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_tradnl" sz="1800" b="1" dirty="0">
                <a:latin typeface="Arial" charset="0"/>
              </a:rPr>
              <a:t>Oral (la voz)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362325" y="5327651"/>
            <a:ext cx="4605338" cy="646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" sz="1800" b="1" dirty="0">
                <a:latin typeface="Arial" charset="0"/>
              </a:rPr>
              <a:t>lunes 07 de marzo, a las 10 de la mañana en el estacionamiento…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861ABA8-F479-B349-8189-A11A93F50016}"/>
              </a:ext>
            </a:extLst>
          </p:cNvPr>
          <p:cNvSpPr txBox="1"/>
          <p:nvPr/>
        </p:nvSpPr>
        <p:spPr>
          <a:xfrm>
            <a:off x="685800" y="484632"/>
            <a:ext cx="38679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b="1" u="sng" dirty="0">
                <a:latin typeface="Arial" panose="020B0604020202020204" pitchFamily="34" charset="0"/>
                <a:cs typeface="Arial" panose="020B0604020202020204" pitchFamily="34" charset="0"/>
              </a:rPr>
              <a:t>Ejercitemos:</a:t>
            </a:r>
          </a:p>
        </p:txBody>
      </p:sp>
    </p:spTree>
    <p:extLst>
      <p:ext uri="{BB962C8B-B14F-4D97-AF65-F5344CB8AC3E}">
        <p14:creationId xmlns:p14="http://schemas.microsoft.com/office/powerpoint/2010/main" val="349122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1844676" y="1058864"/>
            <a:ext cx="7705725" cy="51085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" b="1" dirty="0">
                <a:latin typeface="Arial" charset="0"/>
              </a:rPr>
              <a:t>b) </a:t>
            </a:r>
            <a:r>
              <a:rPr lang="es-ES" sz="2000" b="1" dirty="0">
                <a:latin typeface="Arial" charset="0"/>
              </a:rPr>
              <a:t>En un diario aparece el siguiente aviso:</a:t>
            </a:r>
          </a:p>
          <a:p>
            <a:pPr>
              <a:spcBef>
                <a:spcPct val="50000"/>
              </a:spcBef>
              <a:defRPr/>
            </a:pPr>
            <a:r>
              <a:rPr lang="es-ES" sz="2000" b="1" i="1" dirty="0">
                <a:latin typeface="Arial" charset="0"/>
              </a:rPr>
              <a:t>“Se necesitan maestros carpinteros. Interesados presentarse el lunes 16 de marzo desde las 08:30 </a:t>
            </a:r>
            <a:r>
              <a:rPr lang="es-ES" sz="2000" b="1" i="1" dirty="0" err="1">
                <a:latin typeface="Arial" charset="0"/>
              </a:rPr>
              <a:t>hrs</a:t>
            </a:r>
            <a:r>
              <a:rPr lang="es-ES" sz="2000" b="1" i="1" dirty="0">
                <a:latin typeface="Arial" charset="0"/>
              </a:rPr>
              <a:t>. en Varas 336”</a:t>
            </a:r>
          </a:p>
          <a:p>
            <a:pPr>
              <a:spcBef>
                <a:spcPct val="50000"/>
              </a:spcBef>
              <a:defRPr/>
            </a:pPr>
            <a:endParaRPr lang="es-ES" b="1" dirty="0"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es-ES" b="1" dirty="0">
                <a:latin typeface="Arial" charset="0"/>
              </a:rPr>
              <a:t>Emisor: </a:t>
            </a:r>
          </a:p>
          <a:p>
            <a:pPr>
              <a:spcBef>
                <a:spcPct val="50000"/>
              </a:spcBef>
              <a:defRPr/>
            </a:pPr>
            <a:r>
              <a:rPr lang="es-ES" b="1" dirty="0">
                <a:latin typeface="Arial" charset="0"/>
              </a:rPr>
              <a:t>Receptor:  </a:t>
            </a:r>
          </a:p>
          <a:p>
            <a:pPr>
              <a:spcBef>
                <a:spcPct val="50000"/>
              </a:spcBef>
              <a:defRPr/>
            </a:pPr>
            <a:r>
              <a:rPr lang="es-ES" b="1" dirty="0">
                <a:latin typeface="Arial" charset="0"/>
              </a:rPr>
              <a:t>Mensaje: </a:t>
            </a:r>
          </a:p>
          <a:p>
            <a:pPr>
              <a:spcBef>
                <a:spcPct val="50000"/>
              </a:spcBef>
              <a:defRPr/>
            </a:pPr>
            <a:r>
              <a:rPr lang="es-ES" b="1" dirty="0">
                <a:latin typeface="Arial" charset="0"/>
              </a:rPr>
              <a:t>Código: </a:t>
            </a:r>
          </a:p>
          <a:p>
            <a:pPr>
              <a:spcBef>
                <a:spcPct val="50000"/>
              </a:spcBef>
              <a:defRPr/>
            </a:pPr>
            <a:r>
              <a:rPr lang="es-ES" b="1" dirty="0">
                <a:latin typeface="Arial" charset="0"/>
              </a:rPr>
              <a:t>Canal: </a:t>
            </a:r>
          </a:p>
          <a:p>
            <a:pPr>
              <a:spcBef>
                <a:spcPct val="50000"/>
              </a:spcBef>
              <a:defRPr/>
            </a:pPr>
            <a:r>
              <a:rPr lang="es-ES" b="1" dirty="0">
                <a:latin typeface="Arial" charset="0"/>
              </a:rPr>
              <a:t>Contexto:</a:t>
            </a:r>
          </a:p>
        </p:txBody>
      </p:sp>
      <p:sp>
        <p:nvSpPr>
          <p:cNvPr id="15364" name="AutoShape 9" descr="Resultado de imagen para mujer hablando"/>
          <p:cNvSpPr>
            <a:spLocks noChangeAspect="1" noChangeArrowheads="1"/>
          </p:cNvSpPr>
          <p:nvPr/>
        </p:nvSpPr>
        <p:spPr bwMode="auto">
          <a:xfrm>
            <a:off x="1692275" y="-1825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s-CL" altLang="es-CL" sz="2400">
              <a:latin typeface="Times New Roman" panose="02020603050405020304" pitchFamily="18" charset="0"/>
            </a:endParaRPr>
          </a:p>
        </p:txBody>
      </p:sp>
      <p:pic>
        <p:nvPicPr>
          <p:cNvPr id="1536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1475" y="4375150"/>
            <a:ext cx="1428750" cy="194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709988" y="2971800"/>
            <a:ext cx="1485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s-ES_tradnl" altLang="es-CL" sz="1800" b="1" dirty="0">
                <a:latin typeface="Arial" panose="020B0604020202020204" pitchFamily="34" charset="0"/>
              </a:rPr>
              <a:t>La empresa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643314" y="3538538"/>
            <a:ext cx="25812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s-ES_tradnl" altLang="es-CL" sz="1800" b="1" dirty="0">
                <a:latin typeface="Arial" panose="020B0604020202020204" pitchFamily="34" charset="0"/>
              </a:rPr>
              <a:t>Quienes leen el aviso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670301" y="4103689"/>
            <a:ext cx="25257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s-ES_tradnl" altLang="es-CL" sz="1800" b="1" dirty="0">
                <a:latin typeface="Arial" panose="020B0604020202020204" pitchFamily="34" charset="0"/>
              </a:rPr>
              <a:t>Oferta de trabajo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709989" y="4668838"/>
            <a:ext cx="14874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s-ES_tradnl" altLang="es-CL" sz="1800" b="1" dirty="0">
                <a:latin typeface="Arial" panose="020B0604020202020204" pitchFamily="34" charset="0"/>
              </a:rPr>
              <a:t>Castellano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786188" y="5164139"/>
            <a:ext cx="2271712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s-ES_tradnl" altLang="es-CL" sz="1800" b="1" dirty="0">
                <a:latin typeface="Arial" panose="020B0604020202020204" pitchFamily="34" charset="0"/>
              </a:rPr>
              <a:t>Escrito (diario)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670301" y="5727700"/>
            <a:ext cx="3770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s-ES_tradnl" altLang="es-CL" sz="1800" b="1" dirty="0">
                <a:latin typeface="Arial" panose="020B0604020202020204" pitchFamily="34" charset="0"/>
              </a:rPr>
              <a:t>Laboral. Oportunidad de trabajo</a:t>
            </a:r>
          </a:p>
        </p:txBody>
      </p:sp>
      <p:pic>
        <p:nvPicPr>
          <p:cNvPr id="1537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5113" y="2336801"/>
            <a:ext cx="245745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3" name="Imagen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561" y="817200"/>
            <a:ext cx="6921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255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534838" y="625137"/>
            <a:ext cx="10852030" cy="83099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" b="1" dirty="0">
                <a:solidFill>
                  <a:schemeClr val="tx1">
                    <a:lumMod val="95000"/>
                  </a:schemeClr>
                </a:solidFill>
                <a:latin typeface="Arial" charset="0"/>
              </a:rPr>
              <a:t>Si una persona cruza la calle cuando el semáforo esta en rojo, ¿qué factor de la comunicación falla? ________________________</a:t>
            </a:r>
          </a:p>
        </p:txBody>
      </p:sp>
      <p:sp>
        <p:nvSpPr>
          <p:cNvPr id="16388" name="AutoShape 9" descr="Resultado de imagen para mujer hablando"/>
          <p:cNvSpPr>
            <a:spLocks noChangeAspect="1" noChangeArrowheads="1"/>
          </p:cNvSpPr>
          <p:nvPr/>
        </p:nvSpPr>
        <p:spPr bwMode="auto">
          <a:xfrm>
            <a:off x="1692275" y="-1825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s-CL" altLang="es-CL" sz="2400">
              <a:latin typeface="Times New Roman" panose="02020603050405020304" pitchFamily="18" charset="0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425825" y="1844675"/>
            <a:ext cx="8099066" cy="120032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" b="1" dirty="0">
                <a:solidFill>
                  <a:schemeClr val="tx1">
                    <a:lumMod val="95000"/>
                  </a:schemeClr>
                </a:solidFill>
                <a:latin typeface="Arial" charset="0"/>
              </a:rPr>
              <a:t>Pedro escucha que alguien lo llamó por teléfono, pero al contestar nadie respondió, ¿qué factor de la comunicación falla? _________________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692275" y="3589338"/>
            <a:ext cx="6419850" cy="12001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" b="1" dirty="0">
                <a:solidFill>
                  <a:schemeClr val="tx1">
                    <a:lumMod val="95000"/>
                  </a:schemeClr>
                </a:solidFill>
                <a:latin typeface="Arial" charset="0"/>
              </a:rPr>
              <a:t>Karla está frente al espejo hablando sola. ¿Qué factor de la comunicación falta? ________________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4008439" y="5300664"/>
            <a:ext cx="7378429" cy="120032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" b="1" dirty="0">
                <a:solidFill>
                  <a:schemeClr val="tx1">
                    <a:lumMod val="95000"/>
                  </a:schemeClr>
                </a:solidFill>
                <a:latin typeface="Arial" charset="0"/>
              </a:rPr>
              <a:t>Pedro y Juan van sentados juntos en la micro. Sólo se miran sin decir nada. ¿Qué factor de la comunicación falta? ________________________</a:t>
            </a:r>
          </a:p>
        </p:txBody>
      </p:sp>
      <p:pic>
        <p:nvPicPr>
          <p:cNvPr id="1639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225" y="1979612"/>
            <a:ext cx="1714500" cy="128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9463" y="3514726"/>
            <a:ext cx="222091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13" y="5114926"/>
            <a:ext cx="2328862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5571047" y="1017678"/>
            <a:ext cx="1485900" cy="3698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_tradnl" sz="1800" b="1" dirty="0">
                <a:latin typeface="Arial" charset="0"/>
              </a:rPr>
              <a:t>Código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6731614" y="2621756"/>
            <a:ext cx="1487488" cy="37198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_tradnl" sz="1800" b="1" dirty="0">
                <a:latin typeface="Arial" charset="0"/>
              </a:rPr>
              <a:t>Canal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381250" y="4352925"/>
            <a:ext cx="14859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_tradnl" sz="1800" b="1" dirty="0">
                <a:latin typeface="Arial" charset="0"/>
              </a:rPr>
              <a:t>Receptor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7697653" y="6056374"/>
            <a:ext cx="1485900" cy="3698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_tradnl" sz="1800" b="1" dirty="0">
                <a:latin typeface="Arial" charset="0"/>
              </a:rPr>
              <a:t>Mensaje</a:t>
            </a:r>
          </a:p>
        </p:txBody>
      </p:sp>
    </p:spTree>
    <p:extLst>
      <p:ext uri="{BB962C8B-B14F-4D97-AF65-F5344CB8AC3E}">
        <p14:creationId xmlns:p14="http://schemas.microsoft.com/office/powerpoint/2010/main" val="101956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animBg="1" autoUpdateAnimBg="0"/>
      <p:bldP spid="6" grpId="0" animBg="1" autoUpdateAnimBg="0"/>
      <p:bldP spid="7" grpId="0" animBg="1" autoUpdateAnimBg="0"/>
      <p:bldP spid="8" grpId="0" animBg="1" autoUpdateAnimBg="0"/>
      <p:bldP spid="11" grpId="0"/>
      <p:bldP spid="12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hlinkClick r:id="rId2"/>
          </p:cNvPr>
          <p:cNvSpPr txBox="1"/>
          <p:nvPr/>
        </p:nvSpPr>
        <p:spPr>
          <a:xfrm>
            <a:off x="2314576" y="2133600"/>
            <a:ext cx="7561263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s-CL" sz="3600" b="1" dirty="0">
                <a:solidFill>
                  <a:schemeClr val="tx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Revisemos los videos y comentemos</a:t>
            </a:r>
          </a:p>
          <a:p>
            <a:pPr algn="ctr">
              <a:defRPr/>
            </a:pPr>
            <a:r>
              <a:rPr lang="es-CL" b="1" dirty="0">
                <a:solidFill>
                  <a:schemeClr val="tx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https://www.youtube.com/watch?v=rM4nZhhn3v8</a:t>
            </a:r>
            <a:r>
              <a:rPr lang="es-CL" b="1" dirty="0">
                <a:solidFill>
                  <a:schemeClr val="tx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>
              <a:defRPr/>
            </a:pPr>
            <a:r>
              <a:rPr lang="es-CL" b="1" dirty="0">
                <a:solidFill>
                  <a:schemeClr val="tx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https://youtu.be/wCfHN-DqVWM?si=7UkmUJO-BzwHytYT</a:t>
            </a:r>
          </a:p>
        </p:txBody>
      </p:sp>
      <p:pic>
        <p:nvPicPr>
          <p:cNvPr id="19460" name="Imagen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613" y="998765"/>
            <a:ext cx="8651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lipse 2">
            <a:hlinkClick r:id="rId4" action="ppaction://hlinkfile"/>
            <a:extLst>
              <a:ext uri="{FF2B5EF4-FFF2-40B4-BE49-F238E27FC236}">
                <a16:creationId xmlns:a16="http://schemas.microsoft.com/office/drawing/2014/main" id="{4D4779C1-1506-2417-EE31-4DFEC40A4D73}"/>
              </a:ext>
            </a:extLst>
          </p:cNvPr>
          <p:cNvSpPr/>
          <p:nvPr/>
        </p:nvSpPr>
        <p:spPr>
          <a:xfrm>
            <a:off x="3278038" y="4511615"/>
            <a:ext cx="1639019" cy="8971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Video 1</a:t>
            </a:r>
          </a:p>
        </p:txBody>
      </p:sp>
      <p:sp>
        <p:nvSpPr>
          <p:cNvPr id="4" name="Elipse 3">
            <a:hlinkClick r:id="rId5" action="ppaction://hlinkfile"/>
            <a:extLst>
              <a:ext uri="{FF2B5EF4-FFF2-40B4-BE49-F238E27FC236}">
                <a16:creationId xmlns:a16="http://schemas.microsoft.com/office/drawing/2014/main" id="{54EA73AE-E624-79FC-BDCD-FBC540F283FD}"/>
              </a:ext>
            </a:extLst>
          </p:cNvPr>
          <p:cNvSpPr/>
          <p:nvPr/>
        </p:nvSpPr>
        <p:spPr>
          <a:xfrm>
            <a:off x="6604959" y="4511614"/>
            <a:ext cx="1639019" cy="8971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Video 2</a:t>
            </a:r>
          </a:p>
        </p:txBody>
      </p:sp>
    </p:spTree>
    <p:extLst>
      <p:ext uri="{BB962C8B-B14F-4D97-AF65-F5344CB8AC3E}">
        <p14:creationId xmlns:p14="http://schemas.microsoft.com/office/powerpoint/2010/main" val="421724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Imagen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11" t="13251" r="26711" b="34250"/>
          <a:stretch>
            <a:fillRect/>
          </a:stretch>
        </p:blipFill>
        <p:spPr bwMode="auto">
          <a:xfrm>
            <a:off x="1376364" y="486617"/>
            <a:ext cx="6477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2024064" y="500905"/>
            <a:ext cx="1516062" cy="585787"/>
          </a:xfrm>
          <a:prstGeom prst="rect">
            <a:avLst/>
          </a:prstGeom>
          <a:solidFill>
            <a:srgbClr val="FFFFCC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kumimoji="1" lang="es-ES" altLang="es-CL" sz="3200" b="1" kern="0" dirty="0">
                <a:solidFill>
                  <a:srgbClr val="019FE7">
                    <a:lumMod val="50000"/>
                  </a:srgb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Síntesis</a:t>
            </a:r>
            <a:r>
              <a:rPr kumimoji="1" lang="es-ES" altLang="es-CL" sz="3200" kern="0" dirty="0">
                <a:solidFill>
                  <a:srgbClr val="019FE7">
                    <a:lumMod val="50000"/>
                  </a:srgbClr>
                </a:solidFill>
                <a:latin typeface="Impact"/>
                <a:ea typeface="+mj-ea"/>
                <a:cs typeface="+mj-cs"/>
              </a:rPr>
              <a:t> </a:t>
            </a:r>
            <a:endParaRPr lang="es-CL" dirty="0"/>
          </a:p>
        </p:txBody>
      </p:sp>
      <p:pic>
        <p:nvPicPr>
          <p:cNvPr id="21510" name="Imagen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13" y="1425575"/>
            <a:ext cx="9280213" cy="4779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53963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271</TotalTime>
  <Words>552</Words>
  <Application>Microsoft Office PowerPoint</Application>
  <PresentationFormat>Panorámica</PresentationFormat>
  <Paragraphs>85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Garamond</vt:lpstr>
      <vt:lpstr>Impact</vt:lpstr>
      <vt:lpstr>Times New Roman</vt:lpstr>
      <vt:lpstr>Savon</vt:lpstr>
      <vt:lpstr>LENGUAJE Y COMUNICACIÓN:  LA COMUNICACIÓN</vt:lpstr>
      <vt:lpstr>Fundamentos:</vt:lpstr>
      <vt:lpstr>Presentación de PowerPoint</vt:lpstr>
      <vt:lpstr>¿Qué es comunicar?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LENGUAJE Y COMUNICACIÓN</dc:title>
  <dc:creator>pde001</dc:creator>
  <cp:lastModifiedBy>Elizabeth Alexandra Muñoz Cañulef</cp:lastModifiedBy>
  <cp:revision>15</cp:revision>
  <dcterms:created xsi:type="dcterms:W3CDTF">2023-03-07T22:41:17Z</dcterms:created>
  <dcterms:modified xsi:type="dcterms:W3CDTF">2026-03-20T14:12:21Z</dcterms:modified>
</cp:coreProperties>
</file>